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Good morning evaluators. Today I am presenting our Design Document Preparation and Feasibility Analysis for the Grounded AI Health Assistant &amp; Emergency Triage system.</a:t>
            </a:r>
          </a:p>
          <a:p>
            <a:r>
              <a:t>This project addresses UN SDG 3 (Good Health and Well-being) by solving the dangerous issue of fluent medical hallucinations through auditable provenance, strict negative constraints, and deterministic emergency triage.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Explain cost asymmetry: in programming, a 95% accurate model gives a compiler error. In medicine, a 5% hallucination rate or a 3-second delay in acute cardiac arrest can be fatal. General chatbots lack provenance, invite hallucination, and fail to prioritize urgent triage.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Highlight the negative constraint (Guardrail 3) and safety short-circuit (Guardrail 4).</a:t>
            </a:r>
          </a:p>
          <a:p>
            <a:r>
              <a:t>The system is built so it structurally cannot fabricate information when no clinical source is 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Here is the formal Software Requirements Specification (SRS):</a:t>
            </a:r>
          </a:p>
          <a:p>
            <a:r>
              <a:t>Functional Requirements cover identity, grounded retrieval, citations, emergency escalation, and session management.</a:t>
            </a:r>
          </a:p>
          <a:p>
            <a:r>
              <a:t>Non-Functional Requirements establish rigorous performance benchmarks: &lt; 20 ms emergency triage, &lt; 2500 ms median response, 0% hallucination on out-of-corpus queries, and dual-provider fault tolerance.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Present the first half of the TELOS Feasibility Study:</a:t>
            </a:r>
          </a:p>
          <a:p>
            <a:r>
              <a:t>1. Technical Feasibility: Evaluates whether the technologies exist and perform. Our HNSW index, Groq LPUs, and 282 passing unit tests prove 100% technical viability.</a:t>
            </a:r>
          </a:p>
          <a:p>
            <a:r>
              <a:t>2. Economic Feasibility: Proves the system is cost-effective. We built the full stack on a $0 development budget, and at production scale it costs 95% less than commercial OpenAI RAG systems.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Present the second half of the TELOS Feasibility Study:</a:t>
            </a:r>
          </a:p>
          <a:p>
            <a:r>
              <a:t>1. Legal Feasibility: Explains why we are legally safe under CDSCO/FDA regulations (informational, not diagnostic) and India's DPDP Act 2023 (no PHI stored).</a:t>
            </a:r>
          </a:p>
          <a:p>
            <a:r>
              <a:t>2. Operational Feasibility: Validates adoption by real users without medical training.</a:t>
            </a:r>
          </a:p>
          <a:p>
            <a:r>
              <a:t>3. Schedule Feasibility: Shows our exact project milestone timeline from today's Design Doc (Sep 26) to prototype (Oct 31) and final defense (Dec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Walk through the 5 steps left to right.</a:t>
            </a:r>
          </a:p>
          <a:p>
            <a:r>
              <a:t>Emphasize the pipeline ordering: Red-flag check happens before embedding. Why? Because embedding takes 700 ms, whereas regex takes 0.1 ms. We do not waste 700 ms when someone is having a heart attack.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Explain the database design:</a:t>
            </a:r>
          </a:p>
          <a:p>
            <a:r>
              <a:t>1. We run PostgreSQL 16 with the pgvector extension.</a:t>
            </a:r>
          </a:p>
          <a:p>
            <a:r>
              <a:t>2. The chunks table contains 768-dimensional embeddings indexed using HNSW (Hierarchical Navigable Small World) with vector_cosine_ops for ultra-fast nearest-neighbor search.</a:t>
            </a:r>
          </a:p>
          <a:p>
            <a:r>
              <a:t>3. The messages table maintains full auditability by storing an array of retrieved_chunk_ids, provider name, and latency_ms for every generated message.</a:t>
            </a:r>
          </a:p>
          <a:p>
            <a:r>
              <a:t>4. Documents use SHA-256 content hashing to ensure idempotent ingestion.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Walk through the API design:</a:t>
            </a:r>
          </a:p>
          <a:p>
            <a:r>
              <a:t>1. Highlight POST /api/chat/stream: It uses Server-Sent Events over HTTP POST with fetch ReadableStream.</a:t>
            </a:r>
          </a:p>
          <a:p>
            <a:r>
              <a:t>2. Point out GET /health: It verifies PostgreSQL connection, pgvector extension, and Redis in one call.</a:t>
            </a:r>
          </a:p>
          <a:p>
            <a:r>
              <a:t>3. All endpoints enforce Clerk JWKS RS256 token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Evaluators often ask: 'Why only 42-50 documents? Why not index Wikipedia or the entire web?'</a:t>
            </a:r>
          </a:p>
          <a:p>
            <a:r>
              <a:t>Answer: Breadth was traded for legal and clinical provenance. You cannot verify 10,000 scraped blog posts. Every document here is from WHO, NHS, NIH, or CDC, with legally tracked licenses.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Highlight the 20 ms vs 2500 ms speedup. Evaluators will appreciate that emergency triage is deterministic regex, not an LLM guess. Mention the cost asymmetry: we deliberately escalate chest pain even when the user suspects reflux.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Explain why resilience matters. Free tier APIs have strict rate limits. Our system handles API exhaustion gracefully by switching providers on the fly, and uses atomic Redis Lua scripts so rate limits can't be circumvented by concurrent requests.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Highlight that the application is fully functional end-to-end today. Mention the 282 passing unit tests. Most student projects have zero automated tests; having 282 tests passing in 4.4 seconds demonstrates production-grade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Explain the numbers on this slide.</a:t>
            </a:r>
          </a:p>
          <a:p>
            <a:r>
              <a:t>The most critical statistic is 'False-Hit Rate on Out-of-Corpus: 0%'. When tested with questions outside the corpus, not a single one cleared the 0.65 threshold. This proves that the system never invents facts when it doesn't know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Transition to the live demo here.</a:t>
            </a:r>
          </a:p>
          <a:p>
            <a:r>
              <a:t>Say: 'I will now demonstrate these four beats live in our running application.'</a:t>
            </a:r>
          </a:p>
          <a:p>
            <a:r>
              <a:t>Remember: If demoing on Render, wake the backend 5 minutes beforehand by hitting /health.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This slide directly answers the faculty's #1 question: 'Why not just use ChatGPT?'</a:t>
            </a:r>
          </a:p>
          <a:p>
            <a:r>
              <a:t>Deliver the punchline: 'Raw intelligence without architectural constraints is dangerous in medicine. Our system is not an unconstrained conversational chatbot; it is a safety-engineered, legally auditable clinical information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Evaluators appreciate candidates who honestly know their system's boundaries. State clearly that the corpus is frozen on purpose, and outline practical next steps like Indian regional language support and ICMR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a:t>
            </a:r>
          </a:p>
          <a:p>
            <a:r>
              <a:t>Conclude with confidence: 'Thank you. Our codebase is fully tested with 282 unit tests, and deployed live. I am now open to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201168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2011680"/>
          </a:xfrm>
          <a:prstGeom prst="rect">
            <a:avLst/>
          </a:prstGeom>
          <a:noFill/>
        </p:spPr>
        <p:txBody>
          <a:bodyPr wrap="square">
            <a:spAutoFit/>
          </a:bodyPr>
          <a:lstStyle/>
          <a:p>
            <a:pPr>
              <a:defRPr sz="3600" b="1">
                <a:solidFill>
                  <a:srgbClr val="F1F5F9"/>
                </a:solidFill>
              </a:defRPr>
            </a:pPr>
            <a:r>
              <a:t>Grounded AI Health Assistant &amp; Emergency Triage</a:t>
            </a:r>
          </a:p>
          <a:p>
            <a:pPr>
              <a:spcBef>
                <a:spcPts val="1200"/>
              </a:spcBef>
              <a:defRPr sz="1800">
                <a:solidFill>
                  <a:srgbClr val="94A3B8"/>
                </a:solidFill>
              </a:defRPr>
            </a:pPr>
            <a:r>
              <a:t>Design Document Preparation &amp; Comprehensive Feasibility Analysis (SDG 3)</a:t>
            </a:r>
          </a:p>
        </p:txBody>
      </p:sp>
      <p:sp>
        <p:nvSpPr>
          <p:cNvPr id="5" name="Rounded Rectangle 4"/>
          <p:cNvSpPr/>
          <p:nvPr/>
        </p:nvSpPr>
        <p:spPr>
          <a:xfrm>
            <a:off x="731520" y="3931920"/>
            <a:ext cx="329184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114800"/>
            <a:ext cx="2926080" cy="1645920"/>
          </a:xfrm>
          <a:prstGeom prst="rect">
            <a:avLst/>
          </a:prstGeom>
          <a:noFill/>
        </p:spPr>
        <p:txBody>
          <a:bodyPr wrap="square">
            <a:spAutoFit/>
          </a:bodyPr>
          <a:lstStyle/>
          <a:p>
            <a:pPr>
              <a:defRPr sz="1100" b="1">
                <a:solidFill>
                  <a:srgbClr val="10B981"/>
                </a:solidFill>
              </a:defRPr>
            </a:pPr>
            <a:r>
              <a:t>UN SDG ALIGNMENT</a:t>
            </a:r>
          </a:p>
          <a:p>
            <a:pPr>
              <a:spcBef>
                <a:spcPts val="800"/>
              </a:spcBef>
              <a:defRPr sz="1200">
                <a:solidFill>
                  <a:srgbClr val="F1F5F9"/>
                </a:solidFill>
              </a:defRPr>
            </a:pPr>
            <a:r>
              <a:t>Goal 3: Good Health &amp; Well-being</a:t>
            </a:r>
            <a:br/>
            <a:r>
              <a:t>Target 3.8: Access to verified, safe clinical information with zero medical misinformation.</a:t>
            </a:r>
          </a:p>
        </p:txBody>
      </p:sp>
      <p:sp>
        <p:nvSpPr>
          <p:cNvPr id="7" name="Rounded Rectangle 6"/>
          <p:cNvSpPr/>
          <p:nvPr/>
        </p:nvSpPr>
        <p:spPr>
          <a:xfrm>
            <a:off x="4389120" y="3931920"/>
            <a:ext cx="329184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4114800"/>
            <a:ext cx="2926080" cy="1645920"/>
          </a:xfrm>
          <a:prstGeom prst="rect">
            <a:avLst/>
          </a:prstGeom>
          <a:noFill/>
        </p:spPr>
        <p:txBody>
          <a:bodyPr wrap="square">
            <a:spAutoFit/>
          </a:bodyPr>
          <a:lstStyle/>
          <a:p>
            <a:pPr>
              <a:defRPr sz="1100" b="1">
                <a:solidFill>
                  <a:srgbClr val="0284C7"/>
                </a:solidFill>
              </a:defRPr>
            </a:pPr>
            <a:r>
              <a:t>EVALUATION SCOPE</a:t>
            </a:r>
          </a:p>
          <a:p>
            <a:pPr>
              <a:spcBef>
                <a:spcPts val="800"/>
              </a:spcBef>
              <a:defRPr sz="1200">
                <a:solidFill>
                  <a:srgbClr val="F1F5F9"/>
                </a:solidFill>
              </a:defRPr>
            </a:pPr>
            <a:r>
              <a:t>Phase 1: Design Document &amp; Feasibility</a:t>
            </a:r>
            <a:br/>
            <a:r>
              <a:t>Covers: TELOS Feasibility, SRS (FRs/NFRs), System Architecture, Schema &amp; APIs.</a:t>
            </a:r>
          </a:p>
        </p:txBody>
      </p:sp>
      <p:sp>
        <p:nvSpPr>
          <p:cNvPr id="9" name="Rounded Rectangle 8"/>
          <p:cNvSpPr/>
          <p:nvPr/>
        </p:nvSpPr>
        <p:spPr>
          <a:xfrm>
            <a:off x="8046720" y="3931920"/>
            <a:ext cx="3383280" cy="2011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4114800"/>
            <a:ext cx="3017520" cy="1645920"/>
          </a:xfrm>
          <a:prstGeom prst="rect">
            <a:avLst/>
          </a:prstGeom>
          <a:noFill/>
        </p:spPr>
        <p:txBody>
          <a:bodyPr wrap="square">
            <a:spAutoFit/>
          </a:bodyPr>
          <a:lstStyle/>
          <a:p>
            <a:pPr>
              <a:defRPr sz="1100" b="1">
                <a:solidFill>
                  <a:srgbClr val="F59E0B"/>
                </a:solidFill>
              </a:defRPr>
            </a:pPr>
            <a:r>
              <a:t>CURRENT IMPLEMENTATION</a:t>
            </a:r>
          </a:p>
          <a:p>
            <a:pPr>
              <a:spcBef>
                <a:spcPts val="800"/>
              </a:spcBef>
              <a:defRPr sz="1200">
                <a:solidFill>
                  <a:srgbClr val="F1F5F9"/>
                </a:solidFill>
              </a:defRPr>
            </a:pPr>
            <a:r>
              <a:t>Date: September 26, 2026</a:t>
            </a:r>
            <a:br/>
            <a:r>
              <a:t>Status: Full Stack Deployed &amp; Running</a:t>
            </a:r>
            <a:br/>
            <a:r>
              <a:t>Tech: FastAPI · pgvector · React · Clerk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The Problem: Why General-Purpose AI Fails in Healthcare</a:t>
            </a:r>
          </a:p>
        </p:txBody>
      </p:sp>
      <p:sp>
        <p:nvSpPr>
          <p:cNvPr id="5" name="Rounded Rectangle 4"/>
          <p:cNvSpPr/>
          <p:nvPr/>
        </p:nvSpPr>
        <p:spPr>
          <a:xfrm>
            <a:off x="731520" y="1463040"/>
            <a:ext cx="3383280" cy="457200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2926080" cy="4114800"/>
          </a:xfrm>
          <a:prstGeom prst="rect">
            <a:avLst/>
          </a:prstGeom>
          <a:noFill/>
        </p:spPr>
        <p:txBody>
          <a:bodyPr wrap="square">
            <a:spAutoFit/>
          </a:bodyPr>
          <a:lstStyle/>
          <a:p>
            <a:pPr>
              <a:defRPr sz="1600" b="1">
                <a:solidFill>
                  <a:srgbClr val="E11D48"/>
                </a:solidFill>
              </a:defRPr>
            </a:pPr>
            <a:r>
              <a:t>1. The Danger of Fluent Fabrication</a:t>
            </a:r>
          </a:p>
          <a:p>
            <a:pPr>
              <a:spcBef>
                <a:spcPts val="1400"/>
              </a:spcBef>
              <a:defRPr sz="1300">
                <a:solidFill>
                  <a:srgbClr val="1E293B"/>
                </a:solidFill>
              </a:defRPr>
            </a:pPr>
            <a:r>
              <a:t>General LLMs are trained to always generate an answer. A confident, well-structured, completely fabricated paragraph about chest pain is more dangerous than an obvious typo because patients trust it blindly.</a:t>
            </a:r>
          </a:p>
        </p:txBody>
      </p:sp>
      <p:sp>
        <p:nvSpPr>
          <p:cNvPr id="7" name="Rounded Rectangle 6"/>
          <p:cNvSpPr/>
          <p:nvPr/>
        </p:nvSpPr>
        <p:spPr>
          <a:xfrm>
            <a:off x="4389120" y="1463040"/>
            <a:ext cx="3383280" cy="457200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645920"/>
            <a:ext cx="2926080" cy="4114800"/>
          </a:xfrm>
          <a:prstGeom prst="rect">
            <a:avLst/>
          </a:prstGeom>
          <a:noFill/>
        </p:spPr>
        <p:txBody>
          <a:bodyPr wrap="square">
            <a:spAutoFit/>
          </a:bodyPr>
          <a:lstStyle/>
          <a:p>
            <a:pPr>
              <a:defRPr sz="1600" b="1">
                <a:solidFill>
                  <a:srgbClr val="0E7490"/>
                </a:solidFill>
              </a:defRPr>
            </a:pPr>
            <a:r>
              <a:t>2. Total Lack of Provenance</a:t>
            </a:r>
          </a:p>
          <a:p>
            <a:pPr>
              <a:spcBef>
                <a:spcPts val="1400"/>
              </a:spcBef>
              <a:defRPr sz="1300">
                <a:solidFill>
                  <a:srgbClr val="1E293B"/>
                </a:solidFill>
              </a:defRPr>
            </a:pPr>
            <a:r>
              <a:t>Standard chatbots synthesize knowledge across unvetted internet forums (Reddit, WebMD, blogs). They cannot point to the legal document, paragraph, or clinical body behind a claim.</a:t>
            </a:r>
          </a:p>
        </p:txBody>
      </p:sp>
      <p:sp>
        <p:nvSpPr>
          <p:cNvPr id="9" name="Rounded Rectangle 8"/>
          <p:cNvSpPr/>
          <p:nvPr/>
        </p:nvSpPr>
        <p:spPr>
          <a:xfrm>
            <a:off x="8046720" y="1463040"/>
            <a:ext cx="3383280" cy="457200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645920"/>
            <a:ext cx="2926080" cy="4114800"/>
          </a:xfrm>
          <a:prstGeom prst="rect">
            <a:avLst/>
          </a:prstGeom>
          <a:noFill/>
        </p:spPr>
        <p:txBody>
          <a:bodyPr wrap="square">
            <a:spAutoFit/>
          </a:bodyPr>
          <a:lstStyle/>
          <a:p>
            <a:pPr>
              <a:defRPr sz="1600" b="1">
                <a:solidFill>
                  <a:srgbClr val="E11D48"/>
                </a:solidFill>
              </a:defRPr>
            </a:pPr>
            <a:r>
              <a:t>3. Emergency Neglect</a:t>
            </a:r>
          </a:p>
          <a:p>
            <a:pPr>
              <a:spcBef>
                <a:spcPts val="1400"/>
              </a:spcBef>
              <a:defRPr sz="1300">
                <a:solidFill>
                  <a:srgbClr val="1E293B"/>
                </a:solidFill>
              </a:defRPr>
            </a:pPr>
            <a:r>
              <a:t>General LLMs engage in conversational chit-chat ('I understand your chest hurts; have you tried resting?'). In acute crises, every minute lost to AI generation can be fatal.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System Philosophy: Four Architectural Guardrails</a:t>
            </a:r>
          </a:p>
        </p:txBody>
      </p:sp>
      <p:sp>
        <p:nvSpPr>
          <p:cNvPr id="5" name="Rounded Rectangle 4"/>
          <p:cNvSpPr/>
          <p:nvPr/>
        </p:nvSpPr>
        <p:spPr>
          <a:xfrm>
            <a:off x="731520" y="1463040"/>
            <a:ext cx="5212080" cy="2194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645920"/>
            <a:ext cx="4754880" cy="1828800"/>
          </a:xfrm>
          <a:prstGeom prst="rect">
            <a:avLst/>
          </a:prstGeom>
          <a:noFill/>
        </p:spPr>
        <p:txBody>
          <a:bodyPr wrap="square">
            <a:spAutoFit/>
          </a:bodyPr>
          <a:lstStyle/>
          <a:p>
            <a:pPr>
              <a:defRPr sz="1500" b="1">
                <a:solidFill>
                  <a:srgbClr val="0284C7"/>
                </a:solidFill>
              </a:defRPr>
            </a:pPr>
            <a:r>
              <a:t>Guardrail 1: Explain, Never Diagnose</a:t>
            </a:r>
          </a:p>
          <a:p>
            <a:pPr>
              <a:spcBef>
                <a:spcPts val="800"/>
              </a:spcBef>
              <a:defRPr sz="1300">
                <a:solidFill>
                  <a:srgbClr val="1E293B"/>
                </a:solidFill>
              </a:defRPr>
            </a:pPr>
            <a:r>
              <a:t>The system only explains verified medical literature. It has no capability to diagnose, prescribe medications, or suggest dosages, preventing liability and clinical drift.</a:t>
            </a:r>
          </a:p>
        </p:txBody>
      </p:sp>
      <p:sp>
        <p:nvSpPr>
          <p:cNvPr id="7" name="Rounded Rectangle 6"/>
          <p:cNvSpPr/>
          <p:nvPr/>
        </p:nvSpPr>
        <p:spPr>
          <a:xfrm>
            <a:off x="6217920" y="1463040"/>
            <a:ext cx="5212080" cy="2194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45920"/>
            <a:ext cx="4754880" cy="1828800"/>
          </a:xfrm>
          <a:prstGeom prst="rect">
            <a:avLst/>
          </a:prstGeom>
          <a:noFill/>
        </p:spPr>
        <p:txBody>
          <a:bodyPr wrap="square">
            <a:spAutoFit/>
          </a:bodyPr>
          <a:lstStyle/>
          <a:p>
            <a:pPr>
              <a:defRPr sz="1500" b="1">
                <a:solidFill>
                  <a:srgbClr val="0284C7"/>
                </a:solidFill>
              </a:defRPr>
            </a:pPr>
            <a:r>
              <a:t>Guardrail 2: 100% Auditable Provenance</a:t>
            </a:r>
          </a:p>
          <a:p>
            <a:pPr>
              <a:spcBef>
                <a:spcPts val="800"/>
              </a:spcBef>
              <a:defRPr sz="1300">
                <a:solidFill>
                  <a:srgbClr val="1E293B"/>
                </a:solidFill>
              </a:defRPr>
            </a:pPr>
            <a:r>
              <a:t>Every factual statement carries an inline citation chip linking directly to a specific passage in a published document from WHO, NHS, NIH, or CDC with its legal license.</a:t>
            </a:r>
          </a:p>
        </p:txBody>
      </p:sp>
      <p:sp>
        <p:nvSpPr>
          <p:cNvPr id="9" name="Rounded Rectangle 8"/>
          <p:cNvSpPr/>
          <p:nvPr/>
        </p:nvSpPr>
        <p:spPr>
          <a:xfrm>
            <a:off x="731520" y="3931920"/>
            <a:ext cx="5212080" cy="2194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4114800"/>
            <a:ext cx="4754880" cy="1828800"/>
          </a:xfrm>
          <a:prstGeom prst="rect">
            <a:avLst/>
          </a:prstGeom>
          <a:noFill/>
        </p:spPr>
        <p:txBody>
          <a:bodyPr wrap="square">
            <a:spAutoFit/>
          </a:bodyPr>
          <a:lstStyle/>
          <a:p>
            <a:pPr>
              <a:defRPr sz="1500" b="1">
                <a:solidFill>
                  <a:srgbClr val="0284C7"/>
                </a:solidFill>
              </a:defRPr>
            </a:pPr>
            <a:r>
              <a:t>Guardrail 3: Structural Refusal (0.65 Cosine Floor)</a:t>
            </a:r>
          </a:p>
          <a:p>
            <a:pPr>
              <a:spcBef>
                <a:spcPts val="800"/>
              </a:spcBef>
              <a:defRPr sz="1300">
                <a:solidFill>
                  <a:srgbClr val="1E293B"/>
                </a:solidFill>
              </a:defRPr>
            </a:pPr>
            <a:r>
              <a:t>If retrieved document similarity is below 0.65, the system refuses to answer. The LLM is never called. This structurally prevents the model from hallucinating outside verified data.</a:t>
            </a:r>
          </a:p>
        </p:txBody>
      </p:sp>
      <p:sp>
        <p:nvSpPr>
          <p:cNvPr id="11" name="Rounded Rectangle 10"/>
          <p:cNvSpPr/>
          <p:nvPr/>
        </p:nvSpPr>
        <p:spPr>
          <a:xfrm>
            <a:off x="6217920" y="3931920"/>
            <a:ext cx="5212080" cy="21945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114800"/>
            <a:ext cx="4754880" cy="1828800"/>
          </a:xfrm>
          <a:prstGeom prst="rect">
            <a:avLst/>
          </a:prstGeom>
          <a:noFill/>
        </p:spPr>
        <p:txBody>
          <a:bodyPr wrap="square">
            <a:spAutoFit/>
          </a:bodyPr>
          <a:lstStyle/>
          <a:p>
            <a:pPr>
              <a:defRPr sz="1500" b="1">
                <a:solidFill>
                  <a:srgbClr val="0284C7"/>
                </a:solidFill>
              </a:defRPr>
            </a:pPr>
            <a:r>
              <a:t>Guardrail 4: Emergency Short-Circuit (&lt; 20 ms)</a:t>
            </a:r>
          </a:p>
          <a:p>
            <a:pPr>
              <a:spcBef>
                <a:spcPts val="800"/>
              </a:spcBef>
              <a:defRPr sz="1300">
                <a:solidFill>
                  <a:srgbClr val="1E293B"/>
                </a:solidFill>
              </a:defRPr>
            </a:pPr>
            <a:r>
              <a:t>Emergency symptoms (crushing chest pain, stroke, breathing failure) are caught by rule-based pre-filters on raw input, instantly routing to 112/108 without touching the LLM.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DESIGN DOCUMENT · REQUIREMENTS SPECIFICATION</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Requirements Specification: Functional &amp; Non-Functional (SRS)</a:t>
            </a:r>
          </a:p>
        </p:txBody>
      </p:sp>
      <p:sp>
        <p:nvSpPr>
          <p:cNvPr id="5" name="Rounded Rectangle 4"/>
          <p:cNvSpPr/>
          <p:nvPr/>
        </p:nvSpPr>
        <p:spPr>
          <a:xfrm>
            <a:off x="731520" y="1463040"/>
            <a:ext cx="5120640" cy="45720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284C7"/>
                </a:solidFill>
              </a:defRPr>
            </a:pPr>
            <a:r>
              <a:t>Functional Requirements (FRs)</a:t>
            </a:r>
          </a:p>
          <a:p>
            <a:pPr>
              <a:spcBef>
                <a:spcPts val="800"/>
              </a:spcBef>
              <a:defRPr sz="1150">
                <a:solidFill>
                  <a:srgbClr val="1E293B"/>
                </a:solidFill>
              </a:defRPr>
            </a:pPr>
            <a:r>
              <a:t>• FR1 (Auth &amp; Identity): Authenticate users via Clerk JWKS RS256 JWT tokens; isolate user session histories.</a:t>
            </a:r>
          </a:p>
          <a:p>
            <a:pPr>
              <a:spcBef>
                <a:spcPts val="800"/>
              </a:spcBef>
              <a:defRPr sz="1150">
                <a:solidFill>
                  <a:srgbClr val="1E293B"/>
                </a:solidFill>
              </a:defRPr>
            </a:pPr>
            <a:r>
              <a:t>• FR2 (Grounded Q&amp;A): Retrieve relevant clinical passages from WHO/NHS/NIH/CDC and synthesize extractive responses.</a:t>
            </a:r>
          </a:p>
          <a:p>
            <a:pPr>
              <a:spcBef>
                <a:spcPts val="800"/>
              </a:spcBef>
              <a:defRPr sz="1150">
                <a:solidFill>
                  <a:srgbClr val="1E293B"/>
                </a:solidFill>
              </a:defRPr>
            </a:pPr>
            <a:r>
              <a:t>• FR3 (Dynamic Citation Engine): Generate inline bracketed citation chips linking to exact source paragraphs, licenses, and URLs.</a:t>
            </a:r>
          </a:p>
          <a:p>
            <a:pPr>
              <a:spcBef>
                <a:spcPts val="800"/>
              </a:spcBef>
              <a:defRPr sz="1150">
                <a:solidFill>
                  <a:srgbClr val="1E293B"/>
                </a:solidFill>
              </a:defRPr>
            </a:pPr>
            <a:r>
              <a:t>• FR4 (Emergency Triage): Scan raw text for 9 critical red-flag categories and display emergency dispatch advice (112/108).</a:t>
            </a:r>
          </a:p>
          <a:p>
            <a:pPr>
              <a:spcBef>
                <a:spcPts val="800"/>
              </a:spcBef>
              <a:defRPr sz="1150">
                <a:solidFill>
                  <a:srgbClr val="1E293B"/>
                </a:solidFill>
              </a:defRPr>
            </a:pPr>
            <a:r>
              <a:t>• FR5 (Session Management): Support session creation, conversation history retrieval, and user-initiated soft-deletion.</a:t>
            </a:r>
          </a:p>
        </p:txBody>
      </p:sp>
      <p:sp>
        <p:nvSpPr>
          <p:cNvPr id="7" name="Rounded Rectangle 6"/>
          <p:cNvSpPr/>
          <p:nvPr/>
        </p:nvSpPr>
        <p:spPr>
          <a:xfrm>
            <a:off x="6217920" y="1463040"/>
            <a:ext cx="5212080" cy="457200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0E7490"/>
                </a:solidFill>
              </a:defRPr>
            </a:pPr>
            <a:r>
              <a:t>Non-Functional Requirements (NFRs)</a:t>
            </a:r>
          </a:p>
          <a:p>
            <a:pPr>
              <a:spcBef>
                <a:spcPts val="800"/>
              </a:spcBef>
              <a:defRPr sz="1150">
                <a:solidFill>
                  <a:srgbClr val="1E293B"/>
                </a:solidFill>
              </a:defRPr>
            </a:pPr>
            <a:r>
              <a:t>• NFR1 (Performance/Latency): Red-flag triage under 20 ms HTTP; warm grounded generation p50 latency &lt; 2,500 ms.</a:t>
            </a:r>
          </a:p>
          <a:p>
            <a:pPr>
              <a:spcBef>
                <a:spcPts val="800"/>
              </a:spcBef>
              <a:defRPr sz="1150">
                <a:solidFill>
                  <a:srgbClr val="1E293B"/>
                </a:solidFill>
              </a:defRPr>
            </a:pPr>
            <a:r>
              <a:t>• NFR2 (Safety &amp; Precision): 0.0% false-hit rate on out-of-corpus queries; 100% mechanical citation validation against chunks.</a:t>
            </a:r>
          </a:p>
          <a:p>
            <a:pPr>
              <a:spcBef>
                <a:spcPts val="800"/>
              </a:spcBef>
              <a:defRPr sz="1150">
                <a:solidFill>
                  <a:srgbClr val="1E293B"/>
                </a:solidFill>
              </a:defRPr>
            </a:pPr>
            <a:r>
              <a:t>• NFR3 (Availability &amp; Fault Tolerance): Dual-provider failover (Groq ➔ Gemini) to guarantee 99.9% service uptime under quota exhaustion.</a:t>
            </a:r>
          </a:p>
          <a:p>
            <a:pPr>
              <a:spcBef>
                <a:spcPts val="800"/>
              </a:spcBef>
              <a:defRPr sz="1150">
                <a:solidFill>
                  <a:srgbClr val="1E293B"/>
                </a:solidFill>
              </a:defRPr>
            </a:pPr>
            <a:r>
              <a:t>• NFR4 (Security &amp; Compliance): Stateless server verification; per-user rate limiting (10 req/min); no client-side secret exposure.</a:t>
            </a:r>
          </a:p>
          <a:p>
            <a:pPr>
              <a:spcBef>
                <a:spcPts val="800"/>
              </a:spcBef>
              <a:defRPr sz="1150">
                <a:solidFill>
                  <a:srgbClr val="1E293B"/>
                </a:solidFill>
              </a:defRPr>
            </a:pPr>
            <a:r>
              <a:t>• NFR5 (Maintainability): 100% automated test coverage across all critical paths (282 unit tests in &lt; 5 seconds).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FEASIBILITY STUDY · TELOS FRAMEWORK</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Feasibility Analysis (TELOS): Technical &amp; Economic Viability</a:t>
            </a:r>
          </a:p>
        </p:txBody>
      </p:sp>
      <p:sp>
        <p:nvSpPr>
          <p:cNvPr id="5" name="Rounded Rectangle 4"/>
          <p:cNvSpPr/>
          <p:nvPr/>
        </p:nvSpPr>
        <p:spPr>
          <a:xfrm>
            <a:off x="731520" y="1463040"/>
            <a:ext cx="5120640" cy="45720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284C7"/>
                </a:solidFill>
              </a:defRPr>
            </a:pPr>
            <a:r>
              <a:t>1. Technical Feasibility (T)</a:t>
            </a:r>
          </a:p>
          <a:p>
            <a:pPr>
              <a:spcBef>
                <a:spcPts val="800"/>
              </a:spcBef>
              <a:defRPr sz="1150">
                <a:solidFill>
                  <a:srgbClr val="1E293B"/>
                </a:solidFill>
              </a:defRPr>
            </a:pPr>
            <a:r>
              <a:t>• Proven Vector Infrastructure: PostgreSQL 16 + pgvector HNSW indexing executes approximate nearest-neighbor search in under 50 ms with negligible RAM overhead.</a:t>
            </a:r>
          </a:p>
          <a:p>
            <a:pPr>
              <a:spcBef>
                <a:spcPts val="800"/>
              </a:spcBef>
              <a:defRPr sz="1150">
                <a:solidFill>
                  <a:srgbClr val="1E293B"/>
                </a:solidFill>
              </a:defRPr>
            </a:pPr>
            <a:r>
              <a:t>• High-Speed LPU Inference: Groq LPU engine delivers ~1,800 ms generation times; Google Gemini Matryoshka embeddings (768d) maintain high recall.</a:t>
            </a:r>
          </a:p>
          <a:p>
            <a:pPr>
              <a:spcBef>
                <a:spcPts val="800"/>
              </a:spcBef>
              <a:defRPr sz="1150">
                <a:solidFill>
                  <a:srgbClr val="1E293B"/>
                </a:solidFill>
              </a:defRPr>
            </a:pPr>
            <a:r>
              <a:t>• Seamless Streaming Architecture: FastAPI asynchronous coroutines and React fetch ReadableStream deliver real-time token rendering without WebSocket overhead.</a:t>
            </a:r>
          </a:p>
          <a:p>
            <a:pPr>
              <a:spcBef>
                <a:spcPts val="800"/>
              </a:spcBef>
              <a:defRPr sz="1150">
                <a:solidFill>
                  <a:srgbClr val="1E293B"/>
                </a:solidFill>
              </a:defRPr>
            </a:pPr>
            <a:r>
              <a:t>• Empirical Proof of Concept: All 282 automated unit tests pass in 4.46 seconds, proving technical viability across all subsystems.</a:t>
            </a:r>
          </a:p>
        </p:txBody>
      </p:sp>
      <p:sp>
        <p:nvSpPr>
          <p:cNvPr id="7" name="Rounded Rectangle 6"/>
          <p:cNvSpPr/>
          <p:nvPr/>
        </p:nvSpPr>
        <p:spPr>
          <a:xfrm>
            <a:off x="6217920" y="1463040"/>
            <a:ext cx="52120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10B981"/>
                </a:solidFill>
              </a:defRPr>
            </a:pPr>
            <a:r>
              <a:t>2. Economic / Financial Feasibility (E)</a:t>
            </a:r>
          </a:p>
          <a:p>
            <a:pPr>
              <a:spcBef>
                <a:spcPts val="800"/>
              </a:spcBef>
              <a:defRPr sz="1150">
                <a:solidFill>
                  <a:srgbClr val="1E293B"/>
                </a:solidFill>
              </a:defRPr>
            </a:pPr>
            <a:r>
              <a:t>• Zero-Cost Development &amp; Staging: $0.00 / month operating budget using modern developer tiers:</a:t>
            </a:r>
            <a:br/>
            <a:r>
              <a:t>  • Local Docker / Render Free Tier ($0)</a:t>
            </a:r>
            <a:br/>
            <a:r>
              <a:t>  • Vercel Frontend Hosting ($0)</a:t>
            </a:r>
            <a:br/>
            <a:r>
              <a:t>  • Neon Serverless Postgres + Upstash Redis ($0)</a:t>
            </a:r>
            <a:br/>
            <a:r>
              <a:t>  • Groq (8,000 TPM) &amp; Gemini Free Tiers ($0)</a:t>
            </a:r>
          </a:p>
          <a:p>
            <a:pPr>
              <a:spcBef>
                <a:spcPts val="800"/>
              </a:spcBef>
              <a:defRPr sz="1150">
                <a:solidFill>
                  <a:srgbClr val="1E293B"/>
                </a:solidFill>
              </a:defRPr>
            </a:pPr>
            <a:r>
              <a:t>• Dramatic Cost Reduction vs Proprietary APIs:</a:t>
            </a:r>
            <a:br/>
            <a:r>
              <a:t>  • Proprietary GPT-4 RAG: ~$30.00 – $50.00 per 1,000 queries.</a:t>
            </a:r>
            <a:br/>
            <a:r>
              <a:t>  • Our Architecture: $0.00 for development; &lt; $0.002 per query at commercial scale via open-weights LPUs.</a:t>
            </a:r>
          </a:p>
          <a:p>
            <a:pPr>
              <a:spcBef>
                <a:spcPts val="800"/>
              </a:spcBef>
              <a:defRPr sz="1150">
                <a:solidFill>
                  <a:srgbClr val="1E293B"/>
                </a:solidFill>
              </a:defRPr>
            </a:pPr>
            <a:r>
              <a:t>• Financial Conclusion: Highly feasible for academic research, public health deployment, and resource-constrained clinics.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FEASIBILITY STUDY · TELOS FRAMEWORK</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Feasibility Analysis (TELOS): Legal, Operational &amp; Schedule</a:t>
            </a:r>
          </a:p>
        </p:txBody>
      </p:sp>
      <p:sp>
        <p:nvSpPr>
          <p:cNvPr id="5" name="Rounded Rectangle 4"/>
          <p:cNvSpPr/>
          <p:nvPr/>
        </p:nvSpPr>
        <p:spPr>
          <a:xfrm>
            <a:off x="731520" y="1463040"/>
            <a:ext cx="3383280" cy="457200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4114800"/>
          </a:xfrm>
          <a:prstGeom prst="rect">
            <a:avLst/>
          </a:prstGeom>
          <a:noFill/>
        </p:spPr>
        <p:txBody>
          <a:bodyPr wrap="square">
            <a:spAutoFit/>
          </a:bodyPr>
          <a:lstStyle/>
          <a:p>
            <a:pPr>
              <a:defRPr sz="1500" b="1">
                <a:solidFill>
                  <a:srgbClr val="E11D48"/>
                </a:solidFill>
              </a:defRPr>
            </a:pPr>
            <a:r>
              <a:t>3. Legal &amp; Regulatory (L)</a:t>
            </a:r>
          </a:p>
          <a:p>
            <a:pPr>
              <a:spcBef>
                <a:spcPts val="1000"/>
              </a:spcBef>
              <a:defRPr sz="1100">
                <a:solidFill>
                  <a:srgbClr val="1E293B"/>
                </a:solidFill>
              </a:defRPr>
            </a:pPr>
            <a:r>
              <a:t>• Not a Medical Device: Complies with CDSCO (India) and FDA SaMD guidelines by strictly framing the tool as informational. It refuses diagnostic assessment, prescribing, or drug dosage recommendations.</a:t>
            </a:r>
            <a:br/>
            <a:r>
              <a:t>• Data Privacy (DPDP Act 2023 &amp; GDPR): Collects zero Patient Health Information (PHI). Users do not upload medical scans or identity documents. User sessions support complete soft-deletion.</a:t>
            </a:r>
            <a:br/>
            <a:r>
              <a:t>• Copyright Compliance: Strict attribution adhering to WHO CC BY-NC-SA 3.0, UK OGL v3.0, and US Public Domain licenses.</a:t>
            </a:r>
          </a:p>
        </p:txBody>
      </p:sp>
      <p:sp>
        <p:nvSpPr>
          <p:cNvPr id="7" name="Rounded Rectangle 6"/>
          <p:cNvSpPr/>
          <p:nvPr/>
        </p:nvSpPr>
        <p:spPr>
          <a:xfrm>
            <a:off x="4389120" y="1463040"/>
            <a:ext cx="3383280" cy="457200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17520" cy="4114800"/>
          </a:xfrm>
          <a:prstGeom prst="rect">
            <a:avLst/>
          </a:prstGeom>
          <a:noFill/>
        </p:spPr>
        <p:txBody>
          <a:bodyPr wrap="square">
            <a:spAutoFit/>
          </a:bodyPr>
          <a:lstStyle/>
          <a:p>
            <a:pPr>
              <a:defRPr sz="1500" b="1">
                <a:solidFill>
                  <a:srgbClr val="0E7490"/>
                </a:solidFill>
              </a:defRPr>
            </a:pPr>
            <a:r>
              <a:t>4. Operational Feasibility (O)</a:t>
            </a:r>
          </a:p>
          <a:p>
            <a:pPr>
              <a:spcBef>
                <a:spcPts val="1000"/>
              </a:spcBef>
              <a:defRPr sz="1100">
                <a:solidFill>
                  <a:srgbClr val="1E293B"/>
                </a:solidFill>
              </a:defRPr>
            </a:pPr>
            <a:r>
              <a:t>• Zero Medical Literacy Required: Designed for laypersons using natural, conversational language on mobile and desktop.</a:t>
            </a:r>
            <a:br/>
            <a:r>
              <a:t>• Human-in-the-Loop Paradigm: Does not replace doctors; works as an informational guide and signposts users to 112/108 or hospital clinics.</a:t>
            </a:r>
            <a:br/>
            <a:r>
              <a:t>• Operational Resilience: Rate limiting prevents abuse; automatic provider fallback prevents downtime.</a:t>
            </a:r>
          </a:p>
        </p:txBody>
      </p:sp>
      <p:sp>
        <p:nvSpPr>
          <p:cNvPr id="9" name="Rounded Rectangle 8"/>
          <p:cNvSpPr/>
          <p:nvPr/>
        </p:nvSpPr>
        <p:spPr>
          <a:xfrm>
            <a:off x="8046720" y="1463040"/>
            <a:ext cx="3383280" cy="457200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4114800"/>
          </a:xfrm>
          <a:prstGeom prst="rect">
            <a:avLst/>
          </a:prstGeom>
          <a:noFill/>
        </p:spPr>
        <p:txBody>
          <a:bodyPr wrap="square">
            <a:spAutoFit/>
          </a:bodyPr>
          <a:lstStyle/>
          <a:p>
            <a:pPr>
              <a:defRPr sz="1500" b="1">
                <a:solidFill>
                  <a:srgbClr val="0284C7"/>
                </a:solidFill>
              </a:defRPr>
            </a:pPr>
            <a:r>
              <a:t>5. Schedule Feasibility (S)</a:t>
            </a:r>
          </a:p>
          <a:p>
            <a:pPr>
              <a:spcBef>
                <a:spcPts val="1000"/>
              </a:spcBef>
              <a:defRPr sz="1100">
                <a:solidFill>
                  <a:srgbClr val="1E293B"/>
                </a:solidFill>
              </a:defRPr>
            </a:pPr>
            <a:r>
              <a:t>• Phase 1 (26 Sep 2026 - Today):</a:t>
            </a:r>
            <a:br/>
            <a:r>
              <a:t>  Design Document Preparation, Feasibility Study, and Architecture Specification [COMPLETED].</a:t>
            </a:r>
            <a:br/>
            <a:r>
              <a:t>• Phase 2 (31 Oct 2026):</a:t>
            </a:r>
            <a:br/>
            <a:r>
              <a:t>  Prototype Validation, Clinical Retrieval Benchmark Suite, and Fallback Stress-Testing [ON TRACK].</a:t>
            </a:r>
            <a:br/>
            <a:r>
              <a:t>• Phase 3 (01 Dec 2026):</a:t>
            </a:r>
            <a:br/>
            <a:r>
              <a:t>  Final Production Deployment, User Study &amp; Evaluation Defense [SCHEDULED].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System Architecture: End-to-End Pipeline Data Flow</a:t>
            </a:r>
          </a:p>
        </p:txBody>
      </p:sp>
      <p:sp>
        <p:nvSpPr>
          <p:cNvPr id="5" name="Rounded Rectangle 4"/>
          <p:cNvSpPr/>
          <p:nvPr/>
        </p:nvSpPr>
        <p:spPr>
          <a:xfrm>
            <a:off x="731520" y="1645920"/>
            <a:ext cx="1920240" cy="43891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1645920" cy="3931920"/>
          </a:xfrm>
          <a:prstGeom prst="rect">
            <a:avLst/>
          </a:prstGeom>
          <a:noFill/>
        </p:spPr>
        <p:txBody>
          <a:bodyPr wrap="square">
            <a:spAutoFit/>
          </a:bodyPr>
          <a:lstStyle/>
          <a:p>
            <a:pPr>
              <a:defRPr sz="1300" b="1">
                <a:solidFill>
                  <a:srgbClr val="0E7490"/>
                </a:solidFill>
              </a:defRPr>
            </a:pPr>
            <a:r>
              <a:t>Step 1: Auth &amp; Rate Limit</a:t>
            </a:r>
          </a:p>
          <a:p>
            <a:pPr>
              <a:spcBef>
                <a:spcPts val="1200"/>
              </a:spcBef>
              <a:defRPr sz="1200">
                <a:solidFill>
                  <a:srgbClr val="1E293B"/>
                </a:solidFill>
              </a:defRPr>
            </a:pPr>
            <a:r>
              <a:t>Clerk JWT (RS256 JWKS)</a:t>
            </a:r>
            <a:br/>
            <a:r>
              <a:t>Redis Lua Sliding Window</a:t>
            </a:r>
            <a:br/>
            <a:r>
              <a:t>10 req/min per user (Fails open)</a:t>
            </a:r>
          </a:p>
        </p:txBody>
      </p:sp>
      <p:sp>
        <p:nvSpPr>
          <p:cNvPr id="7" name="Rounded Rectangle 6"/>
          <p:cNvSpPr/>
          <p:nvPr/>
        </p:nvSpPr>
        <p:spPr>
          <a:xfrm>
            <a:off x="2926080" y="1645920"/>
            <a:ext cx="1920240" cy="43891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63240" y="1828800"/>
            <a:ext cx="1645920" cy="3931920"/>
          </a:xfrm>
          <a:prstGeom prst="rect">
            <a:avLst/>
          </a:prstGeom>
          <a:noFill/>
        </p:spPr>
        <p:txBody>
          <a:bodyPr wrap="square">
            <a:spAutoFit/>
          </a:bodyPr>
          <a:lstStyle/>
          <a:p>
            <a:pPr>
              <a:defRPr sz="1300" b="1">
                <a:solidFill>
                  <a:srgbClr val="0E7490"/>
                </a:solidFill>
              </a:defRPr>
            </a:pPr>
            <a:r>
              <a:t>Step 2: Red-Flag Triage</a:t>
            </a:r>
          </a:p>
          <a:p>
            <a:pPr>
              <a:spcBef>
                <a:spcPts val="1200"/>
              </a:spcBef>
              <a:defRPr sz="1200">
                <a:solidFill>
                  <a:srgbClr val="1E293B"/>
                </a:solidFill>
              </a:defRPr>
            </a:pPr>
            <a:r>
              <a:t>In-Process Regex (&lt; 1 ms)</a:t>
            </a:r>
            <a:br/>
            <a:r>
              <a:t>Emergency Match -&gt; Fixed 112/108</a:t>
            </a:r>
            <a:br/>
            <a:r>
              <a:t>(No Embedding, No LLM)</a:t>
            </a:r>
          </a:p>
        </p:txBody>
      </p:sp>
      <p:sp>
        <p:nvSpPr>
          <p:cNvPr id="9" name="Rounded Rectangle 8"/>
          <p:cNvSpPr/>
          <p:nvPr/>
        </p:nvSpPr>
        <p:spPr>
          <a:xfrm>
            <a:off x="5120640" y="1645920"/>
            <a:ext cx="1920240" cy="43891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57800" y="1828800"/>
            <a:ext cx="1645920" cy="3931920"/>
          </a:xfrm>
          <a:prstGeom prst="rect">
            <a:avLst/>
          </a:prstGeom>
          <a:noFill/>
        </p:spPr>
        <p:txBody>
          <a:bodyPr wrap="square">
            <a:spAutoFit/>
          </a:bodyPr>
          <a:lstStyle/>
          <a:p>
            <a:pPr>
              <a:defRPr sz="1300" b="1">
                <a:solidFill>
                  <a:srgbClr val="0E7490"/>
                </a:solidFill>
              </a:defRPr>
            </a:pPr>
            <a:r>
              <a:t>Step 3: Vector Search</a:t>
            </a:r>
          </a:p>
          <a:p>
            <a:pPr>
              <a:spcBef>
                <a:spcPts val="1200"/>
              </a:spcBef>
              <a:defRPr sz="1200">
                <a:solidFill>
                  <a:srgbClr val="1E293B"/>
                </a:solidFill>
              </a:defRPr>
            </a:pPr>
            <a:r>
              <a:t>Gemini 768d Embeddings</a:t>
            </a:r>
            <a:br/>
            <a:r>
              <a:t>Postgres 16 + pgvector HNSW</a:t>
            </a:r>
            <a:br/>
            <a:r>
              <a:t>Cosine similarity floor &gt;= 0.65</a:t>
            </a:r>
          </a:p>
        </p:txBody>
      </p:sp>
      <p:sp>
        <p:nvSpPr>
          <p:cNvPr id="11" name="Rounded Rectangle 10"/>
          <p:cNvSpPr/>
          <p:nvPr/>
        </p:nvSpPr>
        <p:spPr>
          <a:xfrm>
            <a:off x="7315200" y="1645920"/>
            <a:ext cx="1920240" cy="43891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52360" y="1828800"/>
            <a:ext cx="1645920" cy="3931920"/>
          </a:xfrm>
          <a:prstGeom prst="rect">
            <a:avLst/>
          </a:prstGeom>
          <a:noFill/>
        </p:spPr>
        <p:txBody>
          <a:bodyPr wrap="square">
            <a:spAutoFit/>
          </a:bodyPr>
          <a:lstStyle/>
          <a:p>
            <a:pPr>
              <a:defRPr sz="1300" b="1">
                <a:solidFill>
                  <a:srgbClr val="0E7490"/>
                </a:solidFill>
              </a:defRPr>
            </a:pPr>
            <a:r>
              <a:t>Step 4: Dual LLM Fallback</a:t>
            </a:r>
          </a:p>
          <a:p>
            <a:pPr>
              <a:spcBef>
                <a:spcPts val="1200"/>
              </a:spcBef>
              <a:defRPr sz="1200">
                <a:solidFill>
                  <a:srgbClr val="1E293B"/>
                </a:solidFill>
              </a:defRPr>
            </a:pPr>
            <a:r>
              <a:t>Primary: Groq (Llama/GPT-OSS)</a:t>
            </a:r>
            <a:br/>
            <a:r>
              <a:t>Fallback: Gemini 2.5 Flash</a:t>
            </a:r>
            <a:br/>
            <a:r>
              <a:t>Zero broken streams on error</a:t>
            </a:r>
          </a:p>
        </p:txBody>
      </p:sp>
      <p:sp>
        <p:nvSpPr>
          <p:cNvPr id="13" name="Rounded Rectangle 12"/>
          <p:cNvSpPr/>
          <p:nvPr/>
        </p:nvSpPr>
        <p:spPr>
          <a:xfrm>
            <a:off x="9509760" y="1645920"/>
            <a:ext cx="1920240" cy="438912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46920" y="1828800"/>
            <a:ext cx="1645920" cy="3931920"/>
          </a:xfrm>
          <a:prstGeom prst="rect">
            <a:avLst/>
          </a:prstGeom>
          <a:noFill/>
        </p:spPr>
        <p:txBody>
          <a:bodyPr wrap="square">
            <a:spAutoFit/>
          </a:bodyPr>
          <a:lstStyle/>
          <a:p>
            <a:pPr>
              <a:defRPr sz="1300" b="1">
                <a:solidFill>
                  <a:srgbClr val="0E7490"/>
                </a:solidFill>
              </a:defRPr>
            </a:pPr>
            <a:r>
              <a:t>Step 5: SSE Streaming UI</a:t>
            </a:r>
          </a:p>
          <a:p>
            <a:pPr>
              <a:spcBef>
                <a:spcPts val="1200"/>
              </a:spcBef>
              <a:defRPr sz="1200">
                <a:solidFill>
                  <a:srgbClr val="1E293B"/>
                </a:solidFill>
              </a:defRPr>
            </a:pPr>
            <a:r>
              <a:t>React 18 + Vite + Tailwind</a:t>
            </a:r>
            <a:br/>
            <a:r>
              <a:t>Server-Sent Events streaming</a:t>
            </a:r>
            <a:br/>
            <a:r>
              <a:t>Interactive Citation Chips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DATA ARCHITECTURE &amp; PERSISTENCE</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Database Design: Relational Schema &amp; pgvector HNSW Index</a:t>
            </a:r>
          </a:p>
        </p:txBody>
      </p:sp>
      <p:sp>
        <p:nvSpPr>
          <p:cNvPr id="5" name="Rounded Rectangle 4"/>
          <p:cNvSpPr/>
          <p:nvPr/>
        </p:nvSpPr>
        <p:spPr>
          <a:xfrm>
            <a:off x="731520" y="1463040"/>
            <a:ext cx="5120640" cy="24688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00200"/>
            <a:ext cx="4754880" cy="2194560"/>
          </a:xfrm>
          <a:prstGeom prst="rect">
            <a:avLst/>
          </a:prstGeom>
          <a:noFill/>
        </p:spPr>
        <p:txBody>
          <a:bodyPr wrap="square">
            <a:spAutoFit/>
          </a:bodyPr>
          <a:lstStyle/>
          <a:p>
            <a:pPr>
              <a:defRPr sz="1300" b="1">
                <a:solidFill>
                  <a:srgbClr val="0E7490"/>
                </a:solidFill>
              </a:defRPr>
            </a:pPr>
            <a:r>
              <a:t>documents (Corpus Metadata)</a:t>
            </a:r>
          </a:p>
          <a:p>
            <a:pPr>
              <a:spcBef>
                <a:spcPts val="400"/>
              </a:spcBef>
              <a:defRPr sz="1050">
                <a:solidFill>
                  <a:srgbClr val="1E293B"/>
                </a:solidFill>
              </a:defRPr>
            </a:pPr>
            <a:r>
              <a:t>• id: UUID (Primary Key)</a:t>
            </a:r>
            <a:br/>
            <a:r>
              <a:t>• title: Text (Published article title)</a:t>
            </a:r>
            <a:br/>
            <a:r>
              <a:t>• source_url: Text (Original reference link)</a:t>
            </a:r>
            <a:br/>
            <a:r>
              <a:t>• source_org: Text (WHO | NHS | NIH | CDC)</a:t>
            </a:r>
            <a:br/>
            <a:r>
              <a:t>• license: Text (OGL-v3 | CC BY-NC-SA | Public)</a:t>
            </a:r>
            <a:br/>
            <a:r>
              <a:t>• content_hash: String(64) UNIQUE (SHA-256 for idempotent re-ingestion)</a:t>
            </a:r>
            <a:br/>
            <a:r>
              <a:t>• ingested_at: DateTime(timezone=True)</a:t>
            </a:r>
          </a:p>
        </p:txBody>
      </p:sp>
      <p:sp>
        <p:nvSpPr>
          <p:cNvPr id="7" name="Rounded Rectangle 6"/>
          <p:cNvSpPr/>
          <p:nvPr/>
        </p:nvSpPr>
        <p:spPr>
          <a:xfrm>
            <a:off x="6217920" y="1463040"/>
            <a:ext cx="5212080" cy="24688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00200"/>
            <a:ext cx="4846320" cy="2194560"/>
          </a:xfrm>
          <a:prstGeom prst="rect">
            <a:avLst/>
          </a:prstGeom>
          <a:noFill/>
        </p:spPr>
        <p:txBody>
          <a:bodyPr wrap="square">
            <a:spAutoFit/>
          </a:bodyPr>
          <a:lstStyle/>
          <a:p>
            <a:pPr>
              <a:defRPr sz="1300" b="1">
                <a:solidFill>
                  <a:srgbClr val="0E7490"/>
                </a:solidFill>
              </a:defRPr>
            </a:pPr>
            <a:r>
              <a:t>chunks (Vector Store)</a:t>
            </a:r>
          </a:p>
          <a:p>
            <a:pPr>
              <a:spcBef>
                <a:spcPts val="400"/>
              </a:spcBef>
              <a:defRPr sz="1050">
                <a:solidFill>
                  <a:srgbClr val="1E293B"/>
                </a:solidFill>
              </a:defRPr>
            </a:pPr>
            <a:r>
              <a:t>• id: UUID (Primary Key)</a:t>
            </a:r>
            <a:br/>
            <a:r>
              <a:t>• document_id: UUID (FK -&gt; documents.id CASCADE)</a:t>
            </a:r>
            <a:br/>
            <a:r>
              <a:t>• content: Text (Semantic chunk passage)</a:t>
            </a:r>
            <a:br/>
            <a:r>
              <a:t>• embedding: Vector(768) (Gemini 768-dim vector)</a:t>
            </a:r>
            <a:br/>
            <a:r>
              <a:t>• chunk_index: Integer (0-based chunk order)</a:t>
            </a:r>
            <a:br/>
            <a:r>
              <a:t>• token_count: Integer (~300 to ~650 tokens)</a:t>
            </a:r>
            <a:br/>
            <a:r>
              <a:t>★ INDEX: HNSW on embedding (vector_cosine_ops, m=16, ef_construction=64)</a:t>
            </a:r>
          </a:p>
        </p:txBody>
      </p:sp>
      <p:sp>
        <p:nvSpPr>
          <p:cNvPr id="9" name="Rounded Rectangle 8"/>
          <p:cNvSpPr/>
          <p:nvPr/>
        </p:nvSpPr>
        <p:spPr>
          <a:xfrm>
            <a:off x="731520" y="4114800"/>
            <a:ext cx="5120640" cy="20116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737360"/>
          </a:xfrm>
          <a:prstGeom prst="rect">
            <a:avLst/>
          </a:prstGeom>
          <a:noFill/>
        </p:spPr>
        <p:txBody>
          <a:bodyPr wrap="square">
            <a:spAutoFit/>
          </a:bodyPr>
          <a:lstStyle/>
          <a:p>
            <a:pPr>
              <a:defRPr sz="1300" b="1">
                <a:solidFill>
                  <a:srgbClr val="0E7490"/>
                </a:solidFill>
              </a:defRPr>
            </a:pPr>
            <a:r>
              <a:t>sessions (User Chat Context)</a:t>
            </a:r>
          </a:p>
          <a:p>
            <a:pPr>
              <a:spcBef>
                <a:spcPts val="400"/>
              </a:spcBef>
              <a:defRPr sz="1050">
                <a:solidFill>
                  <a:srgbClr val="1E293B"/>
                </a:solidFill>
              </a:defRPr>
            </a:pPr>
            <a:r>
              <a:t>• id: UUID (Primary Key)</a:t>
            </a:r>
            <a:br/>
            <a:r>
              <a:t>• clerk_user_id: Text (Indexed, user scope)</a:t>
            </a:r>
            <a:br/>
            <a:r>
              <a:t>• title: Text (Auto-generated from query)</a:t>
            </a:r>
            <a:br/>
            <a:r>
              <a:t>• deleted_at: DateTime (Nullable, soft delete)</a:t>
            </a:r>
            <a:br/>
            <a:r>
              <a:t>• created_at: DateTime(timezone=True)</a:t>
            </a:r>
          </a:p>
        </p:txBody>
      </p:sp>
      <p:sp>
        <p:nvSpPr>
          <p:cNvPr id="11" name="Rounded Rectangle 10"/>
          <p:cNvSpPr/>
          <p:nvPr/>
        </p:nvSpPr>
        <p:spPr>
          <a:xfrm>
            <a:off x="6217920" y="4114800"/>
            <a:ext cx="5212080" cy="201168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737360"/>
          </a:xfrm>
          <a:prstGeom prst="rect">
            <a:avLst/>
          </a:prstGeom>
          <a:noFill/>
        </p:spPr>
        <p:txBody>
          <a:bodyPr wrap="square">
            <a:spAutoFit/>
          </a:bodyPr>
          <a:lstStyle/>
          <a:p>
            <a:pPr>
              <a:defRPr sz="1300" b="1">
                <a:solidFill>
                  <a:srgbClr val="0E7490"/>
                </a:solidFill>
              </a:defRPr>
            </a:pPr>
            <a:r>
              <a:t>messages (Audit Trail &amp; Tracking)</a:t>
            </a:r>
          </a:p>
          <a:p>
            <a:pPr>
              <a:spcBef>
                <a:spcPts val="400"/>
              </a:spcBef>
              <a:defRPr sz="1050">
                <a:solidFill>
                  <a:srgbClr val="1E293B"/>
                </a:solidFill>
              </a:defRPr>
            </a:pPr>
            <a:r>
              <a:t>• id: UUID (Primary Key)</a:t>
            </a:r>
            <a:br/>
            <a:r>
              <a:t>• session_id: UUID (FK -&gt; sessions.id CASCADE)</a:t>
            </a:r>
            <a:br/>
            <a:r>
              <a:t>• role: Text ('user' | 'assistant')</a:t>
            </a:r>
            <a:br/>
            <a:r>
              <a:t>• content: Text (Message body or response)</a:t>
            </a:r>
            <a:br/>
            <a:r>
              <a:t>• retrieved_chunk_ids: UUID[] (Audit trail)</a:t>
            </a:r>
            <a:br/>
            <a:r>
              <a:t>• llm_provider: Text ('groq' | 'gemini')</a:t>
            </a:r>
            <a:br/>
            <a:r>
              <a:t>• latency_ms: Integer | was_red_flag: Boolean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FASTAPI SERVICE INTERFACE</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API Architecture: REST &amp; Server-Sent Events (SSE) Endpoints</a:t>
            </a:r>
          </a:p>
        </p:txBody>
      </p:sp>
      <p:sp>
        <p:nvSpPr>
          <p:cNvPr id="5" name="Rounded Rectangle 4"/>
          <p:cNvSpPr/>
          <p:nvPr/>
        </p:nvSpPr>
        <p:spPr>
          <a:xfrm>
            <a:off x="731520" y="1463040"/>
            <a:ext cx="10698480" cy="2926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2743200"/>
          </a:xfrm>
          <a:prstGeom prst="rect">
            <a:avLst/>
          </a:prstGeom>
          <a:noFill/>
        </p:spPr>
        <p:txBody>
          <a:bodyPr wrap="square">
            <a:spAutoFit/>
          </a:bodyPr>
          <a:lstStyle/>
          <a:p>
            <a:pPr>
              <a:defRPr sz="1300" b="1">
                <a:solidFill>
                  <a:srgbClr val="0284C7"/>
                </a:solidFill>
              </a:defRPr>
            </a:pPr>
            <a:r>
              <a:t>CORE API SPECIFICATION</a:t>
            </a:r>
          </a:p>
          <a:p>
            <a:pPr>
              <a:spcBef>
                <a:spcPts val="400"/>
              </a:spcBef>
              <a:defRPr sz="1100" b="1">
                <a:solidFill>
                  <a:srgbClr val="1E293B"/>
                </a:solidFill>
              </a:defRPr>
            </a:pPr>
            <a:r>
              <a:t>• POST /api/chat/stream  [Bearer &lt;JWT&gt;]</a:t>
            </a:r>
          </a:p>
          <a:p>
            <a:pPr>
              <a:defRPr sz="1000">
                <a:solidFill>
                  <a:srgbClr val="64748B"/>
                </a:solidFill>
              </a:defRPr>
            </a:pPr>
            <a:r>
              <a:t>   Payload: {session_id, content}  ➔  SSE stream with event types: token, citation, escalation, done</a:t>
            </a:r>
          </a:p>
          <a:p>
            <a:pPr>
              <a:spcBef>
                <a:spcPts val="400"/>
              </a:spcBef>
              <a:defRPr sz="1100" b="1">
                <a:solidFill>
                  <a:srgbClr val="1E293B"/>
                </a:solidFill>
              </a:defRPr>
            </a:pPr>
            <a:r>
              <a:t>• GET  /api/sessions  [Bearer &lt;JWT&gt;]</a:t>
            </a:r>
          </a:p>
          <a:p>
            <a:pPr>
              <a:defRPr sz="1000">
                <a:solidFill>
                  <a:srgbClr val="64748B"/>
                </a:solidFill>
              </a:defRPr>
            </a:pPr>
            <a:r>
              <a:t>   Payload: None  ➔  Returns 200 OK with list of active user chat sessions [SessionOut]</a:t>
            </a:r>
          </a:p>
          <a:p>
            <a:pPr>
              <a:spcBef>
                <a:spcPts val="400"/>
              </a:spcBef>
              <a:defRPr sz="1100" b="1">
                <a:solidFill>
                  <a:srgbClr val="1E293B"/>
                </a:solidFill>
              </a:defRPr>
            </a:pPr>
            <a:r>
              <a:t>• GET  /api/sessions/{id}/messages  [Bearer &lt;JWT&gt;]</a:t>
            </a:r>
          </a:p>
          <a:p>
            <a:pPr>
              <a:defRPr sz="1000">
                <a:solidFill>
                  <a:srgbClr val="64748B"/>
                </a:solidFill>
              </a:defRPr>
            </a:pPr>
            <a:r>
              <a:t>   Payload: session_id  ➔  Returns 200 OK with full conversation history &amp; citation IDs [MessageOut]</a:t>
            </a:r>
          </a:p>
          <a:p>
            <a:pPr>
              <a:spcBef>
                <a:spcPts val="400"/>
              </a:spcBef>
              <a:defRPr sz="1100" b="1">
                <a:solidFill>
                  <a:srgbClr val="1E293B"/>
                </a:solidFill>
              </a:defRPr>
            </a:pPr>
            <a:r>
              <a:t>• DELETE /api/sessions/{id}  [Bearer &lt;JWT&gt;]</a:t>
            </a:r>
          </a:p>
          <a:p>
            <a:pPr>
              <a:defRPr sz="1000">
                <a:solidFill>
                  <a:srgbClr val="64748B"/>
                </a:solidFill>
              </a:defRPr>
            </a:pPr>
            <a:r>
              <a:t>   Payload: session_id  ➔  Soft-deletes session (sets deleted_at); returns 204 No Content</a:t>
            </a:r>
          </a:p>
          <a:p>
            <a:pPr>
              <a:spcBef>
                <a:spcPts val="400"/>
              </a:spcBef>
              <a:defRPr sz="1100" b="1">
                <a:solidFill>
                  <a:srgbClr val="1E293B"/>
                </a:solidFill>
              </a:defRPr>
            </a:pPr>
            <a:r>
              <a:t>• GET  /api/me  [Bearer &lt;JWT&gt;]</a:t>
            </a:r>
          </a:p>
          <a:p>
            <a:pPr>
              <a:defRPr sz="1000">
                <a:solidFill>
                  <a:srgbClr val="64748B"/>
                </a:solidFill>
              </a:defRPr>
            </a:pPr>
            <a:r>
              <a:t>   Payload: None  ➔  Returns 200 OK with authenticated Clerk user ID &amp; email (401 if invalid)</a:t>
            </a:r>
          </a:p>
          <a:p>
            <a:pPr>
              <a:spcBef>
                <a:spcPts val="400"/>
              </a:spcBef>
              <a:defRPr sz="1100" b="1">
                <a:solidFill>
                  <a:srgbClr val="1E293B"/>
                </a:solidFill>
              </a:defRPr>
            </a:pPr>
            <a:r>
              <a:t>• GET  /health  [Public]</a:t>
            </a:r>
          </a:p>
          <a:p>
            <a:pPr>
              <a:defRPr sz="1000">
                <a:solidFill>
                  <a:srgbClr val="64748B"/>
                </a:solidFill>
              </a:defRPr>
            </a:pPr>
            <a:r>
              <a:t>   Payload: None  ➔  Returns 200 OK: {status, database: {reachable, pgvector}, redis: {reachable}}</a:t>
            </a:r>
          </a:p>
        </p:txBody>
      </p:sp>
      <p:sp>
        <p:nvSpPr>
          <p:cNvPr id="7" name="Rounded Rectangle 6"/>
          <p:cNvSpPr/>
          <p:nvPr/>
        </p:nvSpPr>
        <p:spPr>
          <a:xfrm>
            <a:off x="731520" y="4572000"/>
            <a:ext cx="5120640" cy="1737360"/>
          </a:xfrm>
          <a:prstGeom prst="roundRect">
            <a:avLst/>
          </a:prstGeom>
          <a:solidFill>
            <a:srgbClr val="FFFFFF"/>
          </a:solidFill>
          <a:ln w="1905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663440"/>
            <a:ext cx="4754880" cy="1554480"/>
          </a:xfrm>
          <a:prstGeom prst="rect">
            <a:avLst/>
          </a:prstGeom>
          <a:noFill/>
        </p:spPr>
        <p:txBody>
          <a:bodyPr wrap="square">
            <a:spAutoFit/>
          </a:bodyPr>
          <a:lstStyle/>
          <a:p>
            <a:pPr>
              <a:defRPr sz="1300" b="1">
                <a:solidFill>
                  <a:srgbClr val="0E7490"/>
                </a:solidFill>
              </a:defRPr>
            </a:pPr>
            <a:r>
              <a:t>Security &amp; Middleware Layer</a:t>
            </a:r>
          </a:p>
          <a:p>
            <a:pPr>
              <a:spcBef>
                <a:spcPts val="400"/>
              </a:spcBef>
              <a:defRPr sz="1100">
                <a:solidFill>
                  <a:srgbClr val="1E293B"/>
                </a:solidFill>
              </a:defRPr>
            </a:pPr>
            <a:r>
              <a:t>• RequestContextMiddleware: Injects unique X-Request-ID across all logs.</a:t>
            </a:r>
            <a:br/>
            <a:r>
              <a:t>• Clerk JWKS Authenticator: Validates RS256 JWT tokens cryptographically.</a:t>
            </a:r>
            <a:br/>
            <a:r>
              <a:t>• Redis Sliding Window: Enforces 10 req/min rate limit per user.</a:t>
            </a:r>
          </a:p>
        </p:txBody>
      </p:sp>
      <p:sp>
        <p:nvSpPr>
          <p:cNvPr id="9" name="Rounded Rectangle 8"/>
          <p:cNvSpPr/>
          <p:nvPr/>
        </p:nvSpPr>
        <p:spPr>
          <a:xfrm>
            <a:off x="6217920" y="4572000"/>
            <a:ext cx="5212080" cy="173736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663440"/>
            <a:ext cx="4846320" cy="1554480"/>
          </a:xfrm>
          <a:prstGeom prst="rect">
            <a:avLst/>
          </a:prstGeom>
          <a:noFill/>
        </p:spPr>
        <p:txBody>
          <a:bodyPr wrap="square">
            <a:spAutoFit/>
          </a:bodyPr>
          <a:lstStyle/>
          <a:p>
            <a:pPr>
              <a:defRPr sz="1300" b="1">
                <a:solidFill>
                  <a:srgbClr val="0284C7"/>
                </a:solidFill>
              </a:defRPr>
            </a:pPr>
            <a:r>
              <a:t>SSE Streaming Protocol (ReadableStream)</a:t>
            </a:r>
          </a:p>
          <a:p>
            <a:pPr>
              <a:spcBef>
                <a:spcPts val="400"/>
              </a:spcBef>
              <a:defRPr sz="1100">
                <a:solidFill>
                  <a:srgbClr val="1E293B"/>
                </a:solidFill>
              </a:defRPr>
            </a:pPr>
            <a:r>
              <a:t>• Uses fetch + ReadableStream instead of native EventSource to support Authorization headers.</a:t>
            </a:r>
            <a:br/>
            <a:r>
              <a:t>• Dispatches real-time structured JSON chunks to React frontend.</a:t>
            </a:r>
            <a:br/>
            <a:r>
              <a:t>• Automatically cleans up DB sessions and logs response latency.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The Medical Reference Corpus: Quality Over Unvetted Breadth</a:t>
            </a:r>
          </a:p>
        </p:txBody>
      </p:sp>
      <p:sp>
        <p:nvSpPr>
          <p:cNvPr id="5" name="Rounded Rectangle 4"/>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284C7"/>
                </a:solidFill>
              </a:defRPr>
            </a:pPr>
            <a:r>
              <a:t>Curated &amp; License-Checked Repository</a:t>
            </a:r>
          </a:p>
          <a:p>
            <a:pPr>
              <a:spcBef>
                <a:spcPts val="1000"/>
              </a:spcBef>
              <a:defRPr sz="1200">
                <a:solidFill>
                  <a:srgbClr val="1E293B"/>
                </a:solidFill>
              </a:defRPr>
            </a:pPr>
            <a:r>
              <a:t>• 42+ Vetted Source Documents: Covering infectious diseases (dengue, malaria, TB), chronic conditions (diabetes, hypertension, asthma), everyday symptoms, and prevention.</a:t>
            </a:r>
          </a:p>
          <a:p>
            <a:pPr>
              <a:spcBef>
                <a:spcPts val="1000"/>
              </a:spcBef>
              <a:defRPr sz="1200">
                <a:solidFill>
                  <a:srgbClr val="1E293B"/>
                </a:solidFill>
              </a:defRPr>
            </a:pPr>
            <a:r>
              <a:t>• Strict Licensing Compliance: Every source explicitly mapped in corpus_manifest.json:</a:t>
            </a:r>
            <a:br/>
            <a:r>
              <a:t>  • WHO: CC BY-NC-SA 3.0 IGO</a:t>
            </a:r>
            <a:br/>
            <a:r>
              <a:t>  • UK NHS: Open Government Licence (OGL v3.0)</a:t>
            </a:r>
            <a:br/>
            <a:r>
              <a:t>  • US NIH / CDC: US Federal Public Domain</a:t>
            </a:r>
          </a:p>
          <a:p>
            <a:pPr>
              <a:spcBef>
                <a:spcPts val="1000"/>
              </a:spcBef>
              <a:defRPr sz="1200">
                <a:solidFill>
                  <a:srgbClr val="1E293B"/>
                </a:solidFill>
              </a:defRPr>
            </a:pPr>
            <a:r>
              <a:t>• Deterministic Extraction: Handled via PyMuPDF and Trafilatura, stripping boilerplate, headers, and footers.</a:t>
            </a:r>
          </a:p>
          <a:p>
            <a:pPr>
              <a:spcBef>
                <a:spcPts val="1000"/>
              </a:spcBef>
              <a:defRPr sz="1200">
                <a:solidFill>
                  <a:srgbClr val="1E293B"/>
                </a:solidFill>
              </a:defRPr>
            </a:pPr>
            <a:r>
              <a:t>• Semantic Chunking: 153 chunks bounded between ~300 to ~650 tokens to ensure clinical coherence.</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0E7490"/>
                </a:solidFill>
              </a:defRPr>
            </a:pPr>
            <a:r>
              <a:t>High Priority for Indian Healthcare</a:t>
            </a:r>
          </a:p>
          <a:p>
            <a:pPr>
              <a:spcBef>
                <a:spcPts val="1000"/>
              </a:spcBef>
              <a:defRPr sz="1200">
                <a:solidFill>
                  <a:srgbClr val="1E293B"/>
                </a:solidFill>
              </a:defRPr>
            </a:pPr>
            <a:r>
              <a:t>• High-Relevance Infectious Disease Focus: Extensive coverage for Dengue, Malaria, Tuberculosis, Typhoid, and Diarrhoeal diseases.</a:t>
            </a:r>
          </a:p>
          <a:p>
            <a:pPr>
              <a:spcBef>
                <a:spcPts val="1000"/>
              </a:spcBef>
              <a:defRPr sz="1200">
                <a:solidFill>
                  <a:srgbClr val="1E293B"/>
                </a:solidFill>
              </a:defRPr>
            </a:pPr>
            <a:r>
              <a:t>• Everyday Family Symptoms: High fever in adults &amp; children, cough, dehydration, vomiting, paediatric skin rashes.</a:t>
            </a:r>
          </a:p>
          <a:p>
            <a:pPr>
              <a:spcBef>
                <a:spcPts val="1000"/>
              </a:spcBef>
              <a:defRPr sz="1200">
                <a:solidFill>
                  <a:srgbClr val="1E293B"/>
                </a:solidFill>
              </a:defRPr>
            </a:pPr>
            <a:r>
              <a:t>• Deliberate Frozen Corpus: Frozen snapshot prevents silent data corruption or unvetted web drift. If a condition isn't verified, it safely refuses.</a:t>
            </a:r>
          </a:p>
          <a:p>
            <a:pPr>
              <a:spcBef>
                <a:spcPts val="1000"/>
              </a:spcBef>
              <a:defRPr sz="1200">
                <a:solidFill>
                  <a:srgbClr val="1E293B"/>
                </a:solidFill>
              </a:defRPr>
            </a:pPr>
            <a:r>
              <a:t>• Auditable Citations: Every answer references the exact source document title, URL, and medical authority.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CRITICAL SAFETY ARCHITECTURE</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Safety Engineering: Deterministic Emergency Short-Circuit</a:t>
            </a:r>
          </a:p>
        </p:txBody>
      </p:sp>
      <p:sp>
        <p:nvSpPr>
          <p:cNvPr id="5" name="Rounded Rectangle 4"/>
          <p:cNvSpPr/>
          <p:nvPr/>
        </p:nvSpPr>
        <p:spPr>
          <a:xfrm>
            <a:off x="731520" y="1463040"/>
            <a:ext cx="10698480" cy="1463040"/>
          </a:xfrm>
          <a:prstGeom prst="roundRect">
            <a:avLst/>
          </a:prstGeom>
          <a:solidFill>
            <a:srgbClr val="FFF1F2"/>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10332720" cy="1280160"/>
          </a:xfrm>
          <a:prstGeom prst="rect">
            <a:avLst/>
          </a:prstGeom>
          <a:noFill/>
        </p:spPr>
        <p:txBody>
          <a:bodyPr wrap="square">
            <a:spAutoFit/>
          </a:bodyPr>
          <a:lstStyle/>
          <a:p>
            <a:pPr>
              <a:defRPr sz="1200" b="1">
                <a:solidFill>
                  <a:srgbClr val="E11D48"/>
                </a:solidFill>
              </a:defRPr>
            </a:pPr>
            <a:r>
              <a:t>PERFORMANCE ASYMMETRY: EMERGENCY TRIAGE vs GENERATION</a:t>
            </a:r>
          </a:p>
          <a:p>
            <a:pPr>
              <a:spcBef>
                <a:spcPts val="400"/>
              </a:spcBef>
              <a:defRPr sz="2000" b="1">
                <a:solidFill>
                  <a:srgbClr val="1E293B"/>
                </a:solidFill>
              </a:defRPr>
            </a:pPr>
            <a:r>
              <a:t>Red-Flag Matcher: &lt; 1 ms in-process (~20 ms HTTP)   vs   LLM Generation: ~2,512 ms</a:t>
            </a:r>
          </a:p>
          <a:p>
            <a:pPr>
              <a:spcBef>
                <a:spcPts val="400"/>
              </a:spcBef>
              <a:defRPr sz="1200">
                <a:solidFill>
                  <a:srgbClr val="64748B"/>
                </a:solidFill>
              </a:defRPr>
            </a:pPr>
            <a:r>
              <a:t>Short-circuits immediately before embedding, retrieval, and LLM generation. Eliminates latency and non-deterministic risks.</a:t>
            </a:r>
          </a:p>
        </p:txBody>
      </p:sp>
      <p:sp>
        <p:nvSpPr>
          <p:cNvPr id="7" name="Rounded Rectangle 6"/>
          <p:cNvSpPr/>
          <p:nvPr/>
        </p:nvSpPr>
        <p:spPr>
          <a:xfrm>
            <a:off x="731520" y="3200400"/>
            <a:ext cx="5120640" cy="2926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291840"/>
            <a:ext cx="4754880" cy="2743200"/>
          </a:xfrm>
          <a:prstGeom prst="rect">
            <a:avLst/>
          </a:prstGeom>
          <a:noFill/>
        </p:spPr>
        <p:txBody>
          <a:bodyPr wrap="square">
            <a:spAutoFit/>
          </a:bodyPr>
          <a:lstStyle/>
          <a:p>
            <a:pPr>
              <a:defRPr sz="1500" b="1">
                <a:solidFill>
                  <a:srgbClr val="1E293B"/>
                </a:solidFill>
              </a:defRPr>
            </a:pPr>
            <a:r>
              <a:t>9 Critical Emergency Categories</a:t>
            </a:r>
          </a:p>
          <a:p>
            <a:pPr>
              <a:spcBef>
                <a:spcPts val="600"/>
              </a:spcBef>
              <a:defRPr sz="1100">
                <a:solidFill>
                  <a:srgbClr val="1E293B"/>
                </a:solidFill>
              </a:defRPr>
            </a:pPr>
            <a:r>
              <a:t>1. Cardiac (crushing chest pain, arm radiation)</a:t>
            </a:r>
            <a:br/>
            <a:r>
              <a:t>2. Breathing Distress (choking, severe asthma)</a:t>
            </a:r>
            <a:br/>
            <a:r>
              <a:t>3. Stroke Signs (BE-FAST: facial droop, arm weakness)</a:t>
            </a:r>
            <a:br/>
            <a:r>
              <a:t>4. Uncontrolled Severe Bleeding</a:t>
            </a:r>
            <a:br/>
            <a:r>
              <a:t>5. Acute Head Injury with altered mental state</a:t>
            </a:r>
            <a:br/>
            <a:r>
              <a:t>6. Loss of Consciousness / Unresponsiveness</a:t>
            </a:r>
            <a:br/>
            <a:r>
              <a:t>7. Anaphylaxis (throat swelling, severe allergy)</a:t>
            </a:r>
            <a:br/>
            <a:r>
              <a:t>8. Seizures / Convulsions</a:t>
            </a:r>
            <a:br/>
            <a:r>
              <a:t>9. Mental Health Crisis / Self-Harm</a:t>
            </a:r>
          </a:p>
        </p:txBody>
      </p:sp>
      <p:sp>
        <p:nvSpPr>
          <p:cNvPr id="9" name="Rounded Rectangle 8"/>
          <p:cNvSpPr/>
          <p:nvPr/>
        </p:nvSpPr>
        <p:spPr>
          <a:xfrm>
            <a:off x="6217920" y="3200400"/>
            <a:ext cx="5212080" cy="29260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291840"/>
            <a:ext cx="4846320" cy="2743200"/>
          </a:xfrm>
          <a:prstGeom prst="rect">
            <a:avLst/>
          </a:prstGeom>
          <a:noFill/>
        </p:spPr>
        <p:txBody>
          <a:bodyPr wrap="square">
            <a:spAutoFit/>
          </a:bodyPr>
          <a:lstStyle/>
          <a:p>
            <a:pPr>
              <a:defRPr sz="1500" b="1">
                <a:solidFill>
                  <a:srgbClr val="E11D48"/>
                </a:solidFill>
              </a:defRPr>
            </a:pPr>
            <a:r>
              <a:t>Emergency Helplines &amp; Asymmetric Cost</a:t>
            </a:r>
          </a:p>
          <a:p>
            <a:pPr>
              <a:spcBef>
                <a:spcPts val="600"/>
              </a:spcBef>
              <a:defRPr sz="1100">
                <a:solidFill>
                  <a:srgbClr val="1E293B"/>
                </a:solidFill>
              </a:defRPr>
            </a:pPr>
            <a:r>
              <a:t>Integrated Indian Emergency Services:</a:t>
            </a:r>
            <a:br/>
            <a:r>
              <a:t>  • 112: All-in-One National Emergency Helpline</a:t>
            </a:r>
            <a:br/>
            <a:r>
              <a:t>  • 108: Emergency Ambulance Response</a:t>
            </a:r>
            <a:br/>
            <a:r>
              <a:t>  • 14416: Tele-MANAS (Mental Health Helpline)</a:t>
            </a:r>
            <a:br/>
            <a:br/>
            <a:r>
              <a:t>The 'Cost Asymmetry' Rule:</a:t>
            </a:r>
            <a:br/>
            <a:r>
              <a:t>If a user says 'I know it's just acid reflux, but my chest feels tight', the system still escalates. An unnecessary emergency checkup is an annoyance; a missed heart attack is fatal.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High Availability &amp; Operational Resilience</a:t>
            </a:r>
          </a:p>
        </p:txBody>
      </p:sp>
      <p:sp>
        <p:nvSpPr>
          <p:cNvPr id="5" name="Rounded Rectangle 4"/>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284C7"/>
                </a:solidFill>
              </a:defRPr>
            </a:pPr>
            <a:r>
              <a:t>Dual-Provider Automatic LLM Fallback</a:t>
            </a:r>
          </a:p>
          <a:p>
            <a:pPr>
              <a:spcBef>
                <a:spcPts val="1000"/>
              </a:spcBef>
              <a:defRPr sz="1200">
                <a:solidFill>
                  <a:srgbClr val="1E293B"/>
                </a:solidFill>
              </a:defRPr>
            </a:pPr>
            <a:r>
              <a:t>• Primary Provider: Groq (Llama / GPT-OSS 120B) for ultra-fast token streaming (~1,800 ms median latency).</a:t>
            </a:r>
          </a:p>
          <a:p>
            <a:pPr>
              <a:spcBef>
                <a:spcPts val="1000"/>
              </a:spcBef>
              <a:defRPr sz="1200">
                <a:solidFill>
                  <a:srgbClr val="1E293B"/>
                </a:solidFill>
              </a:defRPr>
            </a:pPr>
            <a:r>
              <a:t>• Automatic Fallback: Gemini 2.5 Flash triggers automatically if Groq hits rate limits (TPM), connection timeouts (8s limit), or auth outages.</a:t>
            </a:r>
          </a:p>
          <a:p>
            <a:pPr>
              <a:spcBef>
                <a:spcPts val="1000"/>
              </a:spcBef>
              <a:defRPr sz="1200">
                <a:solidFill>
                  <a:srgbClr val="1E293B"/>
                </a:solidFill>
              </a:defRPr>
            </a:pPr>
            <a:r>
              <a:t>• Clean Stream Recovery: If the primary fails mid-generation, the client cleanly discards the partial buffer and resumes from the fallback. No broken hybrid text.</a:t>
            </a:r>
          </a:p>
          <a:p>
            <a:pPr>
              <a:spcBef>
                <a:spcPts val="1000"/>
              </a:spcBef>
              <a:defRPr sz="1200">
                <a:solidFill>
                  <a:srgbClr val="1E293B"/>
                </a:solidFill>
              </a:defRPr>
            </a:pPr>
            <a:r>
              <a:t>• Empirically Verified: We validated that invalidating Groq's key immediately triggers Gemini with zero client crashes.</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0E7490"/>
                </a:solidFill>
              </a:defRPr>
            </a:pPr>
            <a:r>
              <a:t>Redis Sliding-Window Rate Limiting</a:t>
            </a:r>
          </a:p>
          <a:p>
            <a:pPr>
              <a:spcBef>
                <a:spcPts val="1000"/>
              </a:spcBef>
              <a:defRPr sz="1200">
                <a:solidFill>
                  <a:srgbClr val="1E293B"/>
                </a:solidFill>
              </a:defRPr>
            </a:pPr>
            <a:r>
              <a:t>• Per-User Sliding Window: 10 requests per minute enforced per authenticated Clerk User ID.</a:t>
            </a:r>
          </a:p>
          <a:p>
            <a:pPr>
              <a:spcBef>
                <a:spcPts val="1000"/>
              </a:spcBef>
              <a:defRPr sz="1200">
                <a:solidFill>
                  <a:srgbClr val="1E293B"/>
                </a:solidFill>
              </a:defRPr>
            </a:pPr>
            <a:r>
              <a:t>• Atomic Lua Script: Trims old timestamps, counts active requests, records timestamp, and sets TTL in a single atomic Redis round-trip.</a:t>
            </a:r>
          </a:p>
          <a:p>
            <a:pPr>
              <a:spcBef>
                <a:spcPts val="1000"/>
              </a:spcBef>
              <a:defRPr sz="1200">
                <a:solidFill>
                  <a:srgbClr val="1E293B"/>
                </a:solidFill>
              </a:defRPr>
            </a:pPr>
            <a:r>
              <a:t>• Eliminates Race Conditions: Traditional read-then-write approaches permit concurrent limit bypass. Atomic execution prevents this.</a:t>
            </a:r>
          </a:p>
          <a:p>
            <a:pPr>
              <a:spcBef>
                <a:spcPts val="1000"/>
              </a:spcBef>
              <a:defRPr sz="1200">
                <a:solidFill>
                  <a:srgbClr val="1E293B"/>
                </a:solidFill>
              </a:defRPr>
            </a:pPr>
            <a:r>
              <a:t>• Fail-Open Resiliency: If Redis is unavailable, rate limiting is bypassed. A rate-limiter failure never takes down critical health access.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Current Implementation Status: Production Ready</a:t>
            </a:r>
          </a:p>
        </p:txBody>
      </p:sp>
      <p:sp>
        <p:nvSpPr>
          <p:cNvPr id="5" name="Rounded Rectangle 4"/>
          <p:cNvSpPr/>
          <p:nvPr/>
        </p:nvSpPr>
        <p:spPr>
          <a:xfrm>
            <a:off x="731520" y="1463040"/>
            <a:ext cx="3383280" cy="2743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2377440"/>
          </a:xfrm>
          <a:prstGeom prst="rect">
            <a:avLst/>
          </a:prstGeom>
          <a:noFill/>
        </p:spPr>
        <p:txBody>
          <a:bodyPr wrap="square">
            <a:spAutoFit/>
          </a:bodyPr>
          <a:lstStyle/>
          <a:p>
            <a:pPr>
              <a:defRPr sz="1500" b="1">
                <a:solidFill>
                  <a:srgbClr val="0284C7"/>
                </a:solidFill>
              </a:defRPr>
            </a:pPr>
            <a:r>
              <a:t>Backend &amp; Database</a:t>
            </a:r>
          </a:p>
          <a:p>
            <a:pPr>
              <a:spcBef>
                <a:spcPts val="800"/>
              </a:spcBef>
              <a:defRPr sz="1200">
                <a:solidFill>
                  <a:srgbClr val="1E293B"/>
                </a:solidFill>
              </a:defRPr>
            </a:pPr>
            <a:r>
              <a:t>FastAPI (Python 3.11, async)</a:t>
            </a:r>
            <a:br/>
            <a:r>
              <a:t>SQLAlchemy 2.0 + asyncpg</a:t>
            </a:r>
            <a:br/>
            <a:r>
              <a:t>PostgreSQL 16 + pgvector (HNSW)</a:t>
            </a:r>
            <a:br/>
            <a:r>
              <a:t>Redis 7 Ephemeral Cache</a:t>
            </a:r>
            <a:br/>
            <a:r>
              <a:t>Alembic Database Migrations</a:t>
            </a:r>
          </a:p>
        </p:txBody>
      </p:sp>
      <p:sp>
        <p:nvSpPr>
          <p:cNvPr id="7" name="Rounded Rectangle 6"/>
          <p:cNvSpPr/>
          <p:nvPr/>
        </p:nvSpPr>
        <p:spPr>
          <a:xfrm>
            <a:off x="4389120" y="1463040"/>
            <a:ext cx="3383280" cy="2743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17520" cy="2377440"/>
          </a:xfrm>
          <a:prstGeom prst="rect">
            <a:avLst/>
          </a:prstGeom>
          <a:noFill/>
        </p:spPr>
        <p:txBody>
          <a:bodyPr wrap="square">
            <a:spAutoFit/>
          </a:bodyPr>
          <a:lstStyle/>
          <a:p>
            <a:pPr>
              <a:defRPr sz="1500" b="1">
                <a:solidFill>
                  <a:srgbClr val="0284C7"/>
                </a:solidFill>
              </a:defRPr>
            </a:pPr>
            <a:r>
              <a:t>Frontend &amp; UX</a:t>
            </a:r>
          </a:p>
          <a:p>
            <a:pPr>
              <a:spcBef>
                <a:spcPts val="800"/>
              </a:spcBef>
              <a:defRPr sz="1200">
                <a:solidFill>
                  <a:srgbClr val="1E293B"/>
                </a:solidFill>
              </a:defRPr>
            </a:pPr>
            <a:r>
              <a:t>React 18 + TypeScript + Vite</a:t>
            </a:r>
            <a:br/>
            <a:r>
              <a:t>Tailwind CSS modern styling</a:t>
            </a:r>
            <a:br/>
            <a:r>
              <a:t>Server-Sent Events (SSE) Reader</a:t>
            </a:r>
            <a:br/>
            <a:r>
              <a:t>Interactive Citation Inspector</a:t>
            </a:r>
            <a:br/>
            <a:r>
              <a:t>Emergency Visual Escalation</a:t>
            </a:r>
          </a:p>
        </p:txBody>
      </p:sp>
      <p:sp>
        <p:nvSpPr>
          <p:cNvPr id="9" name="Rounded Rectangle 8"/>
          <p:cNvSpPr/>
          <p:nvPr/>
        </p:nvSpPr>
        <p:spPr>
          <a:xfrm>
            <a:off x="8046720" y="1463040"/>
            <a:ext cx="3383280" cy="27432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2377440"/>
          </a:xfrm>
          <a:prstGeom prst="rect">
            <a:avLst/>
          </a:prstGeom>
          <a:noFill/>
        </p:spPr>
        <p:txBody>
          <a:bodyPr wrap="square">
            <a:spAutoFit/>
          </a:bodyPr>
          <a:lstStyle/>
          <a:p>
            <a:pPr>
              <a:defRPr sz="1500" b="1">
                <a:solidFill>
                  <a:srgbClr val="0284C7"/>
                </a:solidFill>
              </a:defRPr>
            </a:pPr>
            <a:r>
              <a:t>Security &amp; Auth</a:t>
            </a:r>
          </a:p>
          <a:p>
            <a:pPr>
              <a:spcBef>
                <a:spcPts val="800"/>
              </a:spcBef>
              <a:defRPr sz="1200">
                <a:solidFill>
                  <a:srgbClr val="1E293B"/>
                </a:solidFill>
              </a:defRPr>
            </a:pPr>
            <a:r>
              <a:t>Clerk Authentication</a:t>
            </a:r>
            <a:br/>
            <a:r>
              <a:t>JWKS Cryptographic Verification</a:t>
            </a:r>
            <a:br/>
            <a:r>
              <a:t>RS256 JWT validation on all API calls</a:t>
            </a:r>
            <a:br/>
            <a:r>
              <a:t>No browser-side credential trust</a:t>
            </a:r>
            <a:br/>
            <a:r>
              <a:t>Strict CORS &amp; rate limit headers</a:t>
            </a:r>
          </a:p>
        </p:txBody>
      </p:sp>
      <p:sp>
        <p:nvSpPr>
          <p:cNvPr id="11" name="Rounded Rectangle 10"/>
          <p:cNvSpPr/>
          <p:nvPr/>
        </p:nvSpPr>
        <p:spPr>
          <a:xfrm>
            <a:off x="731520" y="4480560"/>
            <a:ext cx="10698480" cy="1645920"/>
          </a:xfrm>
          <a:prstGeom prst="roundRect">
            <a:avLst/>
          </a:prstGeom>
          <a:solidFill>
            <a:srgbClr val="F0FDF4"/>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572000"/>
            <a:ext cx="10332720" cy="1371600"/>
          </a:xfrm>
          <a:prstGeom prst="rect">
            <a:avLst/>
          </a:prstGeom>
          <a:noFill/>
        </p:spPr>
        <p:txBody>
          <a:bodyPr wrap="square">
            <a:spAutoFit/>
          </a:bodyPr>
          <a:lstStyle/>
          <a:p>
            <a:pPr>
              <a:defRPr sz="1300" b="1">
                <a:solidFill>
                  <a:srgbClr val="10B981"/>
                </a:solidFill>
              </a:defRPr>
            </a:pPr>
            <a:r>
              <a:t>RIGOROUS AUTOMATED TEST SUITE: 282 UNIT TESTS (100% PASSING)</a:t>
            </a:r>
          </a:p>
          <a:p>
            <a:pPr>
              <a:spcBef>
                <a:spcPts val="400"/>
              </a:spcBef>
              <a:defRPr sz="1100">
                <a:solidFill>
                  <a:srgbClr val="1E293B"/>
                </a:solidFill>
              </a:defRPr>
            </a:pPr>
            <a:r>
              <a:t>Comprehensive test coverage executed in 4.46 seconds:</a:t>
            </a:r>
            <a:br/>
            <a:r>
              <a:t>• 98 tests for red-flag emergency detection &amp; phrasing variants    • 38 tests for vector retriever &amp; floor filtering</a:t>
            </a:r>
            <a:br/>
            <a:r>
              <a:t>• 31 tests for document extraction &amp; chunking bounds             • 21 tests for authentication &amp; rate limiting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Empirical Benchmark Results: Grounding &amp; Latency</a:t>
            </a:r>
          </a:p>
        </p:txBody>
      </p:sp>
      <p:sp>
        <p:nvSpPr>
          <p:cNvPr id="5" name="Rounded Rectangle 4"/>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284C7"/>
                </a:solidFill>
              </a:defRPr>
            </a:pPr>
            <a:r>
              <a:t>Retrieval &amp; Grounding Precision</a:t>
            </a:r>
          </a:p>
          <a:p>
            <a:pPr>
              <a:spcBef>
                <a:spcPts val="800"/>
              </a:spcBef>
              <a:defRPr sz="1200">
                <a:solidFill>
                  <a:srgbClr val="1E293B"/>
                </a:solidFill>
              </a:defRPr>
            </a:pPr>
            <a:r>
              <a:t>• In-Corpus Retrieval Hit Rate: 90% (27/30 in-corpus medical queries retrieved relevant passages).</a:t>
            </a:r>
          </a:p>
          <a:p>
            <a:pPr>
              <a:spcBef>
                <a:spcPts val="800"/>
              </a:spcBef>
              <a:defRPr sz="1200">
                <a:solidFill>
                  <a:srgbClr val="1E293B"/>
                </a:solidFill>
              </a:defRPr>
            </a:pPr>
            <a:r>
              <a:t>• Out-of-Corpus False Hit Rate: 0.0% (0/8 non-medical or off-topic queries cleared the 0.65 threshold).</a:t>
            </a:r>
          </a:p>
          <a:p>
            <a:pPr>
              <a:spcBef>
                <a:spcPts val="800"/>
              </a:spcBef>
              <a:defRPr sz="1200">
                <a:solidFill>
                  <a:srgbClr val="1E293B"/>
                </a:solidFill>
              </a:defRPr>
            </a:pPr>
            <a:r>
              <a:t>• Top Similarity Separation: In-corpus median: 0.727 vs Out-of-corpus max: 0.555 (Wide 0.172 margin).</a:t>
            </a:r>
          </a:p>
          <a:p>
            <a:pPr>
              <a:spcBef>
                <a:spcPts val="800"/>
              </a:spcBef>
              <a:defRPr sz="1200">
                <a:solidFill>
                  <a:srgbClr val="1E293B"/>
                </a:solidFill>
              </a:defRPr>
            </a:pPr>
            <a:r>
              <a:t>• Citation Validity: 100% (129 of 129 generated citations mechanically verified to match retrieved source text).</a:t>
            </a:r>
          </a:p>
          <a:p>
            <a:pPr>
              <a:spcBef>
                <a:spcPts val="800"/>
              </a:spcBef>
              <a:defRPr sz="1200">
                <a:solidFill>
                  <a:srgbClr val="1E293B"/>
                </a:solidFill>
              </a:defRPr>
            </a:pPr>
            <a:r>
              <a:t>• Mean Citations: 4.8 verified sources cited per response.</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0E7490"/>
                </a:solidFill>
              </a:defRPr>
            </a:pPr>
            <a:r>
              <a:t>System Latency Profile</a:t>
            </a:r>
          </a:p>
          <a:p>
            <a:pPr>
              <a:spcBef>
                <a:spcPts val="800"/>
              </a:spcBef>
              <a:defRPr sz="1200">
                <a:solidFill>
                  <a:srgbClr val="1E293B"/>
                </a:solidFill>
              </a:defRPr>
            </a:pPr>
            <a:r>
              <a:t>• Red-Flag Escalation: ~0.1 ms in-process matcher (HTTP round-trip ~20 ms).</a:t>
            </a:r>
          </a:p>
          <a:p>
            <a:pPr>
              <a:spcBef>
                <a:spcPts val="800"/>
              </a:spcBef>
              <a:defRPr sz="1200">
                <a:solidFill>
                  <a:srgbClr val="1E293B"/>
                </a:solidFill>
              </a:defRPr>
            </a:pPr>
            <a:r>
              <a:t>• Query Embedding (Gemini): Median 714 ms (p95: 950 ms).</a:t>
            </a:r>
          </a:p>
          <a:p>
            <a:pPr>
              <a:spcBef>
                <a:spcPts val="800"/>
              </a:spcBef>
              <a:defRPr sz="1200">
                <a:solidFill>
                  <a:srgbClr val="1E293B"/>
                </a:solidFill>
              </a:defRPr>
            </a:pPr>
            <a:r>
              <a:t>• Vector Retrieval (pgvector HNSW): Median 46 ms (p95: 48 ms).</a:t>
            </a:r>
          </a:p>
          <a:p>
            <a:pPr>
              <a:spcBef>
                <a:spcPts val="800"/>
              </a:spcBef>
              <a:defRPr sz="1200">
                <a:solidFill>
                  <a:srgbClr val="1E293B"/>
                </a:solidFill>
              </a:defRPr>
            </a:pPr>
            <a:r>
              <a:t>• Time to First Token (TTFT): Median 1,129 ms.</a:t>
            </a:r>
          </a:p>
          <a:p>
            <a:pPr>
              <a:spcBef>
                <a:spcPts val="800"/>
              </a:spcBef>
              <a:defRPr sz="1200">
                <a:solidFill>
                  <a:srgbClr val="1E293B"/>
                </a:solidFill>
              </a:defRPr>
            </a:pPr>
            <a:r>
              <a:t>• Total End-to-End Generation: Median 2,512 ms (Groq p50: 1,843 ms, Gemini fallback p50: 3,605 ms).</a:t>
            </a:r>
          </a:p>
          <a:p>
            <a:pPr>
              <a:spcBef>
                <a:spcPts val="800"/>
              </a:spcBef>
              <a:defRPr sz="1200">
                <a:solidFill>
                  <a:srgbClr val="1E293B"/>
                </a:solidFill>
              </a:defRPr>
            </a:pPr>
            <a:r>
              <a:t>• Safety Short-Circuit: 100% of red-flag queries prevented from reaching the LLM.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Live Demonstration: Four Key Evaluation Beats</a:t>
            </a:r>
          </a:p>
        </p:txBody>
      </p:sp>
      <p:sp>
        <p:nvSpPr>
          <p:cNvPr id="5" name="Rounded Rectangle 4"/>
          <p:cNvSpPr/>
          <p:nvPr/>
        </p:nvSpPr>
        <p:spPr>
          <a:xfrm>
            <a:off x="731520" y="1645920"/>
            <a:ext cx="2468880" cy="4389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28800"/>
            <a:ext cx="2194560" cy="3931920"/>
          </a:xfrm>
          <a:prstGeom prst="rect">
            <a:avLst/>
          </a:prstGeom>
          <a:noFill/>
        </p:spPr>
        <p:txBody>
          <a:bodyPr wrap="square">
            <a:spAutoFit/>
          </a:bodyPr>
          <a:lstStyle/>
          <a:p>
            <a:pPr>
              <a:defRPr sz="1400" b="1">
                <a:solidFill>
                  <a:srgbClr val="0284C7"/>
                </a:solidFill>
              </a:defRPr>
            </a:pPr>
            <a:r>
              <a:t>Beat 1: Grounded Answer</a:t>
            </a:r>
          </a:p>
          <a:p>
            <a:pPr>
              <a:spcBef>
                <a:spcPts val="1200"/>
              </a:spcBef>
              <a:defRPr sz="1200">
                <a:solidFill>
                  <a:srgbClr val="1E293B"/>
                </a:solidFill>
              </a:defRPr>
            </a:pPr>
            <a:r>
              <a:t>Query: 'What causes iron deficiency anaemia?'</a:t>
            </a:r>
            <a:br/>
            <a:br/>
            <a:r>
              <a:t>Shows: Real-time SSE streaming, inline citation chips, and source inspector panel displaying NHS/WHO origin.</a:t>
            </a:r>
          </a:p>
        </p:txBody>
      </p:sp>
      <p:sp>
        <p:nvSpPr>
          <p:cNvPr id="7" name="Rounded Rectangle 6"/>
          <p:cNvSpPr/>
          <p:nvPr/>
        </p:nvSpPr>
        <p:spPr>
          <a:xfrm>
            <a:off x="3474720" y="1645920"/>
            <a:ext cx="2468880" cy="4389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11880" y="1828800"/>
            <a:ext cx="2194560" cy="3931920"/>
          </a:xfrm>
          <a:prstGeom prst="rect">
            <a:avLst/>
          </a:prstGeom>
          <a:noFill/>
        </p:spPr>
        <p:txBody>
          <a:bodyPr wrap="square">
            <a:spAutoFit/>
          </a:bodyPr>
          <a:lstStyle/>
          <a:p>
            <a:pPr>
              <a:defRPr sz="1400" b="1">
                <a:solidFill>
                  <a:srgbClr val="0284C7"/>
                </a:solidFill>
              </a:defRPr>
            </a:pPr>
            <a:r>
              <a:t>Beat 2: Grounding Proof</a:t>
            </a:r>
          </a:p>
          <a:p>
            <a:pPr>
              <a:spcBef>
                <a:spcPts val="1200"/>
              </a:spcBef>
              <a:defRPr sz="1200">
                <a:solidFill>
                  <a:srgbClr val="1E293B"/>
                </a:solidFill>
              </a:defRPr>
            </a:pPr>
            <a:r>
              <a:t>Query: 'What is the capital of France?'</a:t>
            </a:r>
            <a:br/>
            <a:br/>
            <a:r>
              <a:t>Shows: Immediate refusal. Proves the model is structurally blocked without verified medical context.</a:t>
            </a:r>
          </a:p>
        </p:txBody>
      </p:sp>
      <p:sp>
        <p:nvSpPr>
          <p:cNvPr id="9" name="Rounded Rectangle 8"/>
          <p:cNvSpPr/>
          <p:nvPr/>
        </p:nvSpPr>
        <p:spPr>
          <a:xfrm>
            <a:off x="6217920" y="1645920"/>
            <a:ext cx="2468880" cy="4389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828800"/>
            <a:ext cx="2194560" cy="3931920"/>
          </a:xfrm>
          <a:prstGeom prst="rect">
            <a:avLst/>
          </a:prstGeom>
          <a:noFill/>
        </p:spPr>
        <p:txBody>
          <a:bodyPr wrap="square">
            <a:spAutoFit/>
          </a:bodyPr>
          <a:lstStyle/>
          <a:p>
            <a:pPr>
              <a:defRPr sz="1400" b="1">
                <a:solidFill>
                  <a:srgbClr val="0284C7"/>
                </a:solidFill>
              </a:defRPr>
            </a:pPr>
            <a:r>
              <a:t>Beat 3: Emergency Short-Circuit</a:t>
            </a:r>
          </a:p>
          <a:p>
            <a:pPr>
              <a:spcBef>
                <a:spcPts val="1200"/>
              </a:spcBef>
              <a:defRPr sz="1200">
                <a:solidFill>
                  <a:srgbClr val="1E293B"/>
                </a:solidFill>
              </a:defRPr>
            </a:pPr>
            <a:r>
              <a:t>Query: 'Crushing chest pain radiating to arm'</a:t>
            </a:r>
            <a:br/>
            <a:br/>
            <a:r>
              <a:t>Shows: Instant red emergency banner (~20 ms). Directs to 112/108 without waiting for LLM tokens.</a:t>
            </a:r>
          </a:p>
        </p:txBody>
      </p:sp>
      <p:sp>
        <p:nvSpPr>
          <p:cNvPr id="11" name="Rounded Rectangle 10"/>
          <p:cNvSpPr/>
          <p:nvPr/>
        </p:nvSpPr>
        <p:spPr>
          <a:xfrm>
            <a:off x="8961120" y="1645920"/>
            <a:ext cx="2468880" cy="438912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98280" y="1828800"/>
            <a:ext cx="2194560" cy="3931920"/>
          </a:xfrm>
          <a:prstGeom prst="rect">
            <a:avLst/>
          </a:prstGeom>
          <a:noFill/>
        </p:spPr>
        <p:txBody>
          <a:bodyPr wrap="square">
            <a:spAutoFit/>
          </a:bodyPr>
          <a:lstStyle/>
          <a:p>
            <a:pPr>
              <a:defRPr sz="1400" b="1">
                <a:solidFill>
                  <a:srgbClr val="0284C7"/>
                </a:solidFill>
              </a:defRPr>
            </a:pPr>
            <a:r>
              <a:t>Beat 4: Cost Asymmetry</a:t>
            </a:r>
          </a:p>
          <a:p>
            <a:pPr>
              <a:spcBef>
                <a:spcPts val="1200"/>
              </a:spcBef>
              <a:defRPr sz="1200">
                <a:solidFill>
                  <a:srgbClr val="1E293B"/>
                </a:solidFill>
              </a:defRPr>
            </a:pPr>
            <a:r>
              <a:t>Query: 'I think it's acid reflux but chest hurts'</a:t>
            </a:r>
            <a:br/>
            <a:br/>
            <a:r>
              <a:t>Shows: Still escalates. Proves safety priority: false alarms are minor; missed heart attacks are fatal.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Defense: Why Use This Over Frontier AI Models (ChatGPT/Gemini)?</a:t>
            </a:r>
          </a:p>
        </p:txBody>
      </p:sp>
      <p:sp>
        <p:nvSpPr>
          <p:cNvPr id="5" name="Rounded Rectangle 4"/>
          <p:cNvSpPr/>
          <p:nvPr/>
        </p:nvSpPr>
        <p:spPr>
          <a:xfrm>
            <a:off x="731520" y="1463040"/>
            <a:ext cx="5120640" cy="457200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E11D48"/>
                </a:solidFill>
              </a:defRPr>
            </a:pPr>
            <a:r>
              <a:t>Frontier AI Models (ChatGPT, Claude)</a:t>
            </a:r>
          </a:p>
          <a:p>
            <a:pPr>
              <a:spcBef>
                <a:spcPts val="1000"/>
              </a:spcBef>
              <a:defRPr sz="1200">
                <a:solidFill>
                  <a:srgbClr val="1E293B"/>
                </a:solidFill>
              </a:defRPr>
            </a:pPr>
            <a:r>
              <a:t>• Unconstrained Intelligence: Trained to be helpful and conversational. They will speculate on symptoms and suggest unverified home remedies.</a:t>
            </a:r>
          </a:p>
          <a:p>
            <a:pPr>
              <a:spcBef>
                <a:spcPts val="1000"/>
              </a:spcBef>
              <a:defRPr sz="1200">
                <a:solidFill>
                  <a:srgbClr val="1E293B"/>
                </a:solidFill>
              </a:defRPr>
            </a:pPr>
            <a:r>
              <a:t>• Opaque Sourcing: Synthesize text from internet scrapings (Reddit, forums, blogs). Zero legal traceability or document-level citations.</a:t>
            </a:r>
          </a:p>
          <a:p>
            <a:pPr>
              <a:spcBef>
                <a:spcPts val="1000"/>
              </a:spcBef>
              <a:defRPr sz="1200">
                <a:solidFill>
                  <a:srgbClr val="1E293B"/>
                </a:solidFill>
              </a:defRPr>
            </a:pPr>
            <a:r>
              <a:t>• Dangerous Latency in Crises: Take 2-5 seconds over HTTP to chat conversationally when a user is experiencing cardiac arrest or stroke.</a:t>
            </a:r>
          </a:p>
          <a:p>
            <a:pPr>
              <a:spcBef>
                <a:spcPts val="1000"/>
              </a:spcBef>
              <a:defRPr sz="1200">
                <a:solidFill>
                  <a:srgbClr val="1E293B"/>
                </a:solidFill>
              </a:defRPr>
            </a:pPr>
            <a:r>
              <a:t>• Prompt Drift &amp; Jailbreaks: System prompts ('Act like a doctor') can be bypassed or ignored by creative user queries.</a:t>
            </a:r>
          </a:p>
        </p:txBody>
      </p:sp>
      <p:sp>
        <p:nvSpPr>
          <p:cNvPr id="7" name="Rounded Rectangle 6"/>
          <p:cNvSpPr/>
          <p:nvPr/>
        </p:nvSpPr>
        <p:spPr>
          <a:xfrm>
            <a:off x="6217920" y="1463040"/>
            <a:ext cx="5212080" cy="457200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10B981"/>
                </a:solidFill>
              </a:defRPr>
            </a:pPr>
            <a:r>
              <a:t>Our Grounded Assistant Architecture</a:t>
            </a:r>
          </a:p>
          <a:p>
            <a:pPr>
              <a:spcBef>
                <a:spcPts val="1000"/>
              </a:spcBef>
              <a:defRPr sz="1200">
                <a:solidFill>
                  <a:srgbClr val="1E293B"/>
                </a:solidFill>
              </a:defRPr>
            </a:pPr>
            <a:r>
              <a:t>• Enforced Negative Constraints: Architecturally incapable of hallucinating without verified medical context (0.65 similarity floor).</a:t>
            </a:r>
          </a:p>
          <a:p>
            <a:pPr>
              <a:spcBef>
                <a:spcPts val="1000"/>
              </a:spcBef>
              <a:defRPr sz="1200">
                <a:solidFill>
                  <a:srgbClr val="1E293B"/>
                </a:solidFill>
              </a:defRPr>
            </a:pPr>
            <a:r>
              <a:t>• 100% Chain-of-Custody: Every claim links to an exact legal document chunk from WHO, NHS, NIH, or CDC.</a:t>
            </a:r>
          </a:p>
          <a:p>
            <a:pPr>
              <a:spcBef>
                <a:spcPts val="1000"/>
              </a:spcBef>
              <a:defRPr sz="1200">
                <a:solidFill>
                  <a:srgbClr val="1E293B"/>
                </a:solidFill>
              </a:defRPr>
            </a:pPr>
            <a:r>
              <a:t>• Deterministic Emergency Speed: Rule-based regex evaluates raw message in &lt; 1 ms (~20 ms HTTP) and routes to 112/108 immediately.</a:t>
            </a:r>
          </a:p>
          <a:p>
            <a:pPr>
              <a:spcBef>
                <a:spcPts val="1000"/>
              </a:spcBef>
              <a:defRPr sz="1200">
                <a:solidFill>
                  <a:srgbClr val="1E293B"/>
                </a:solidFill>
              </a:defRPr>
            </a:pPr>
            <a:r>
              <a:t>• Zero Diagnosis Liability: Strictly explains literature; cannot prescribe medication or suggest dosages by design.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00" b="1">
                <a:solidFill>
                  <a:srgbClr val="0284C7"/>
                </a:solidFill>
              </a:defRPr>
            </a:pPr>
            <a:r>
              <a:t>HEALTH ASSISTANT · DESIGN DOC &amp; FEASIBILITY</a:t>
            </a:r>
          </a:p>
        </p:txBody>
      </p:sp>
      <p:sp>
        <p:nvSpPr>
          <p:cNvPr id="4" name="TextBox 3"/>
          <p:cNvSpPr txBox="1"/>
          <p:nvPr/>
        </p:nvSpPr>
        <p:spPr>
          <a:xfrm>
            <a:off x="731520" y="640080"/>
            <a:ext cx="10698480" cy="640080"/>
          </a:xfrm>
          <a:prstGeom prst="rect">
            <a:avLst/>
          </a:prstGeom>
          <a:noFill/>
        </p:spPr>
        <p:txBody>
          <a:bodyPr wrap="square">
            <a:spAutoFit/>
          </a:bodyPr>
          <a:lstStyle/>
          <a:p>
            <a:pPr>
              <a:defRPr sz="2200" b="1">
                <a:solidFill>
                  <a:srgbClr val="1E293B"/>
                </a:solidFill>
              </a:defRPr>
            </a:pPr>
            <a:r>
              <a:t>Engineering Boundaries &amp; Future Roadmap</a:t>
            </a:r>
          </a:p>
        </p:txBody>
      </p:sp>
      <p:sp>
        <p:nvSpPr>
          <p:cNvPr id="5" name="Rounded Rectangle 4"/>
          <p:cNvSpPr/>
          <p:nvPr/>
        </p:nvSpPr>
        <p:spPr>
          <a:xfrm>
            <a:off x="731520" y="146304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114800"/>
          </a:xfrm>
          <a:prstGeom prst="rect">
            <a:avLst/>
          </a:prstGeom>
          <a:noFill/>
        </p:spPr>
        <p:txBody>
          <a:bodyPr wrap="square">
            <a:spAutoFit/>
          </a:bodyPr>
          <a:lstStyle/>
          <a:p>
            <a:pPr>
              <a:defRPr sz="1600" b="1">
                <a:solidFill>
                  <a:srgbClr val="0E7490"/>
                </a:solidFill>
              </a:defRPr>
            </a:pPr>
            <a:r>
              <a:t>Current Engineering Boundaries</a:t>
            </a:r>
          </a:p>
          <a:p>
            <a:pPr>
              <a:spcBef>
                <a:spcPts val="1000"/>
              </a:spcBef>
              <a:defRPr sz="1200">
                <a:solidFill>
                  <a:srgbClr val="1E293B"/>
                </a:solidFill>
              </a:defRPr>
            </a:pPr>
            <a:r>
              <a:t>• Curated Frozen Corpus: Limited to 42-50 vetted documents. Questions outside this scope (e.g. rare diseases, COVID-19) are refused.</a:t>
            </a:r>
          </a:p>
          <a:p>
            <a:pPr>
              <a:spcBef>
                <a:spcPts val="1000"/>
              </a:spcBef>
              <a:defRPr sz="1200">
                <a:solidFill>
                  <a:srgbClr val="1E293B"/>
                </a:solidFill>
              </a:defRPr>
            </a:pPr>
            <a:r>
              <a:t>• Informational Only: Built strictly as an informational tool. Cannot replace physical medical exams, diagnostics, or clinical triage.</a:t>
            </a:r>
          </a:p>
          <a:p>
            <a:pPr>
              <a:spcBef>
                <a:spcPts val="1000"/>
              </a:spcBef>
              <a:defRPr sz="1200">
                <a:solidFill>
                  <a:srgbClr val="1E293B"/>
                </a:solidFill>
              </a:defRPr>
            </a:pPr>
            <a:r>
              <a:t>• English Language: Currently trained and indexed for English medical literature.</a:t>
            </a:r>
          </a:p>
          <a:p>
            <a:pPr>
              <a:spcBef>
                <a:spcPts val="1000"/>
              </a:spcBef>
              <a:defRPr sz="1200">
                <a:solidFill>
                  <a:srgbClr val="1E293B"/>
                </a:solidFill>
              </a:defRPr>
            </a:pPr>
            <a:r>
              <a:t>• Manual Page Extraction for Bot-Protected Sites: 8 CDC articles require manual saving due to strict anti-scraping Cloudflare blocks.</a:t>
            </a:r>
          </a:p>
        </p:txBody>
      </p:sp>
      <p:sp>
        <p:nvSpPr>
          <p:cNvPr id="7" name="Rounded Rectangle 6"/>
          <p:cNvSpPr/>
          <p:nvPr/>
        </p:nvSpPr>
        <p:spPr>
          <a:xfrm>
            <a:off x="6217920" y="146304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114800"/>
          </a:xfrm>
          <a:prstGeom prst="rect">
            <a:avLst/>
          </a:prstGeom>
          <a:noFill/>
        </p:spPr>
        <p:txBody>
          <a:bodyPr wrap="square">
            <a:spAutoFit/>
          </a:bodyPr>
          <a:lstStyle/>
          <a:p>
            <a:pPr>
              <a:defRPr sz="1600" b="1">
                <a:solidFill>
                  <a:srgbClr val="0284C7"/>
                </a:solidFill>
              </a:defRPr>
            </a:pPr>
            <a:r>
              <a:t>Future Technical Roadmap</a:t>
            </a:r>
          </a:p>
          <a:p>
            <a:pPr>
              <a:spcBef>
                <a:spcPts val="1000"/>
              </a:spcBef>
              <a:defRPr sz="1200">
                <a:solidFill>
                  <a:srgbClr val="1E293B"/>
                </a:solidFill>
              </a:defRPr>
            </a:pPr>
            <a:r>
              <a:t>• Automated LLM-as-a-Judge Verification: Adding real-time claim-to-passage entailment verification (NLI) before streaming.</a:t>
            </a:r>
          </a:p>
          <a:p>
            <a:pPr>
              <a:spcBef>
                <a:spcPts val="1000"/>
              </a:spcBef>
              <a:defRPr sz="1200">
                <a:solidFill>
                  <a:srgbClr val="1E293B"/>
                </a:solidFill>
              </a:defRPr>
            </a:pPr>
            <a:r>
              <a:t>• Indian Regional Language Support: Expanding ingestion and queries to Hindi, Tamil, Telugu, and Bengali.</a:t>
            </a:r>
          </a:p>
          <a:p>
            <a:pPr>
              <a:spcBef>
                <a:spcPts val="1000"/>
              </a:spcBef>
              <a:defRPr sz="1200">
                <a:solidFill>
                  <a:srgbClr val="1E293B"/>
                </a:solidFill>
              </a:defRPr>
            </a:pPr>
            <a:r>
              <a:t>• National Health Authority Ingestion: Expanding corpus to include official publications from ICMR (Indian Council of Medical Research) and AIIMS.</a:t>
            </a:r>
          </a:p>
          <a:p>
            <a:pPr>
              <a:spcBef>
                <a:spcPts val="1000"/>
              </a:spcBef>
              <a:defRPr sz="1200">
                <a:solidFill>
                  <a:srgbClr val="1E293B"/>
                </a:solidFill>
              </a:defRPr>
            </a:pPr>
            <a:r>
              <a:t>• Offline Edge Deployment: Exploring quantized on-device embeddings and small language models for remote rural health clinics.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1828800"/>
          </a:xfrm>
          <a:prstGeom prst="rect">
            <a:avLst/>
          </a:prstGeom>
          <a:noFill/>
        </p:spPr>
        <p:txBody>
          <a:bodyPr wrap="square">
            <a:spAutoFit/>
          </a:bodyPr>
          <a:lstStyle/>
          <a:p>
            <a:pPr>
              <a:defRPr sz="3200" b="1">
                <a:solidFill>
                  <a:srgbClr val="F1F5F9"/>
                </a:solidFill>
              </a:defRPr>
            </a:pPr>
            <a:r>
              <a:t>Summary: An Assistant You Can Audit and Trust</a:t>
            </a:r>
          </a:p>
          <a:p>
            <a:pPr>
              <a:spcBef>
                <a:spcPts val="1200"/>
              </a:spcBef>
              <a:defRPr sz="1800">
                <a:solidFill>
                  <a:srgbClr val="94A3B8"/>
                </a:solidFill>
              </a:defRPr>
            </a:pPr>
            <a:r>
              <a:t>Safety-critical AI requires architectural constraints, deterministic triage, and legal provenance.</a:t>
            </a:r>
          </a:p>
        </p:txBody>
      </p:sp>
      <p:sp>
        <p:nvSpPr>
          <p:cNvPr id="4" name="Rounded Rectangle 3"/>
          <p:cNvSpPr/>
          <p:nvPr/>
        </p:nvSpPr>
        <p:spPr>
          <a:xfrm>
            <a:off x="731520" y="3474720"/>
            <a:ext cx="3383280" cy="219456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657600"/>
            <a:ext cx="3017520" cy="1828800"/>
          </a:xfrm>
          <a:prstGeom prst="rect">
            <a:avLst/>
          </a:prstGeom>
          <a:noFill/>
        </p:spPr>
        <p:txBody>
          <a:bodyPr wrap="square">
            <a:spAutoFit/>
          </a:bodyPr>
          <a:lstStyle/>
          <a:p>
            <a:pPr>
              <a:defRPr sz="3600" b="1">
                <a:solidFill>
                  <a:srgbClr val="0284C7"/>
                </a:solidFill>
              </a:defRPr>
            </a:pPr>
            <a:r>
              <a:t>100%</a:t>
            </a:r>
          </a:p>
          <a:p>
            <a:pPr>
              <a:spcBef>
                <a:spcPts val="800"/>
              </a:spcBef>
              <a:defRPr sz="1200">
                <a:solidFill>
                  <a:srgbClr val="F1F5F9"/>
                </a:solidFill>
              </a:defRPr>
            </a:pPr>
            <a:r>
              <a:t>Grounded Citation Validity (Verified against retrieved chunks)</a:t>
            </a:r>
          </a:p>
        </p:txBody>
      </p:sp>
      <p:sp>
        <p:nvSpPr>
          <p:cNvPr id="6" name="Rounded Rectangle 5"/>
          <p:cNvSpPr/>
          <p:nvPr/>
        </p:nvSpPr>
        <p:spPr>
          <a:xfrm>
            <a:off x="4389120" y="3474720"/>
            <a:ext cx="3383280" cy="219456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3657600"/>
            <a:ext cx="3017520" cy="1828800"/>
          </a:xfrm>
          <a:prstGeom prst="rect">
            <a:avLst/>
          </a:prstGeom>
          <a:noFill/>
        </p:spPr>
        <p:txBody>
          <a:bodyPr wrap="square">
            <a:spAutoFit/>
          </a:bodyPr>
          <a:lstStyle/>
          <a:p>
            <a:pPr>
              <a:defRPr sz="3600" b="1">
                <a:solidFill>
                  <a:srgbClr val="0284C7"/>
                </a:solidFill>
              </a:defRPr>
            </a:pPr>
            <a:r>
              <a:t>&lt; 20 ms</a:t>
            </a:r>
          </a:p>
          <a:p>
            <a:pPr>
              <a:spcBef>
                <a:spcPts val="800"/>
              </a:spcBef>
              <a:defRPr sz="1200">
                <a:solidFill>
                  <a:srgbClr val="F1F5F9"/>
                </a:solidFill>
              </a:defRPr>
            </a:pPr>
            <a:r>
              <a:t>Emergency Triage Short-Circuit to 112 / 108</a:t>
            </a:r>
          </a:p>
        </p:txBody>
      </p:sp>
      <p:sp>
        <p:nvSpPr>
          <p:cNvPr id="8" name="Rounded Rectangle 7"/>
          <p:cNvSpPr/>
          <p:nvPr/>
        </p:nvSpPr>
        <p:spPr>
          <a:xfrm>
            <a:off x="8046720" y="3474720"/>
            <a:ext cx="3383280" cy="219456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3657600"/>
            <a:ext cx="3017520" cy="1828800"/>
          </a:xfrm>
          <a:prstGeom prst="rect">
            <a:avLst/>
          </a:prstGeom>
          <a:noFill/>
        </p:spPr>
        <p:txBody>
          <a:bodyPr wrap="square">
            <a:spAutoFit/>
          </a:bodyPr>
          <a:lstStyle/>
          <a:p>
            <a:pPr>
              <a:defRPr sz="3600" b="1">
                <a:solidFill>
                  <a:srgbClr val="0284C7"/>
                </a:solidFill>
              </a:defRPr>
            </a:pPr>
            <a:r>
              <a:t>282</a:t>
            </a:r>
          </a:p>
          <a:p>
            <a:pPr>
              <a:spcBef>
                <a:spcPts val="800"/>
              </a:spcBef>
              <a:defRPr sz="1200">
                <a:solidFill>
                  <a:srgbClr val="F1F5F9"/>
                </a:solidFill>
              </a:defRPr>
            </a:pPr>
            <a:r>
              <a:t>Passing Automated Unit Tests covering every safety layer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